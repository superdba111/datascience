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76030ba-f9c4-959a-4ed4-b43a7bdf2101}">
          <p14:sldIdLst>
            <p14:sldId id="256"/>
            <p14:sldId id="257"/>
          </p14:sldIdLst>
        </p14:section>
        <p14:section name="Prototype" id="{0648ed80-da01-18aa-7ce6-e7c69ec1c810}">
          <p14:sldIdLst>
            <p14:sldId id="258"/>
            <p14:sldId id="259"/>
            <p14:sldId id="260"/>
            <p14:sldId id="261"/>
            <p14:sldId id="262"/>
          </p14:sldIdLst>
        </p14:section>
        <p14:section name="Results" id="{84f0ec6e-9742-9793-09a5-ec6c9cfbe5f7}">
          <p14:sldIdLst>
            <p14:sldId id="263"/>
            <p14:sldId id="264"/>
            <p14:sldId id="265"/>
            <p14:sldId id="266"/>
          </p14:sldIdLst>
        </p14:section>
        <p14:section name="AWS design" id="{6d128131-9093-d53b-dd5d-2c7b4ff50b2d}">
          <p14:sldIdLst>
            <p14:sldId id="267"/>
            <p14:sldId id="268"/>
            <p14:sldId id="269"/>
          </p14:sldIdLst>
        </p14:section>
        <p14:section name="Close" id="{e57f0ee0-c976-b309-73bc-92f33464e3c4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(~1 min). Thank them. One sentence: I built a small, repeatable pipeline that answers the trader's question 'how did RT compare with DA, and can I trust it?', and a proportionate serverless AWS design. Plan for the next ~20 minutes: the problem, the data model and time handling, the SQL, the demo results, tests, then AWS and what I'd do next. Happy to take questions at any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(~1.5 min) The comparison itself is trivial arithmetic. The hard part is trust. The provider replays records, delivers intervals late, corrects prices with a higher revision, and sends malformed rows. And the trap the brief calls out: a pipeline can finish 'successfully' while the report is still missing data. So my design goals were: idempotent ingestion, revision-correct latest prices, every input row accounted for, and a report that is explicit about what's missing instead of hiding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(~1.5 min) Walk left to right. Each batch is processed on its own, reading only the files its manifest lists, so batch 2 is never peeked at during batch 1. Every row is normalized and validated, then stored in an append-only history with an explicit outcome. 'Latest' is derived, not overwritten. The report is a single SQL file. Tool choice: standard library and SQLite means nothing to install and the reviewer can run it in seconds; SQLite has window functions and transactions, which is all this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Key choice: I never overwrite a price. Valid revisions go into price_revision, whose primary key includes the revision, so a replay is just a no-op insert. latest_price is a view that picks the highest revision with ROW_NUMBER. That means delivery order, published_at and ingestion time play no part — an older revision arriving later simply can't win, and a replay can't undo a correction. Every input row also gets a log entry with its outcome, so rejected rows are queryable with file, line and reason. Lineage: any number in the report traces back to file, line, file hash and the run that first loaded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This is where the off-by-one bugs live, so I made the rule explicit: the business key is the interval START. An RT interval ending at midnight UTC covers 23:45 to 00:00 and belongs to the 23:00 hour — there's a test for exactly that. Every timestamp is parsed with its offset and normalized to UTC; batch 2 deliberately sends 19:45-05:00, which is the same interval as 00:45Z, and that must be a duplicate, not a new price. I store canonical Z strings so sorting and SQLite date functions just work. published_at is kept but never decides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Nothing is silently discarded. Four outcomes. Duplicate covers both within-file and replayed rows. Stale revision is a valid row that's older than what we already have: we keep it for lineage but it never wins. Rejected rows carry a reason code. A few judgment calls: we validate before picking a winner, so a blank rev-1 price never 'wins' and blocks the repair. A conflicting value under the same revision is out of scope per the contract, but I reject it rather than overwrite silently. Row-level problems are rejections; file-level problems — bad header, broken quoting — fail the run and roll back, so you never get a successful empty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The trader-facing query starts from a generated hub-by-hour grid for the configured window, then left-joins DA and RT onto it. So the report always has 12 rows, and a missing hour shows as nulls and a zero count, never as a missing row or a zero price. The difference is only published when all four RT intervals and the DA price exist. One subtle thing: the contract says huge prices are valid, and a plain AVG sums first and can overflow to infinity, so I average price/4 and multiply back. If the difference itself still isn't representable, it's left null and reported as a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This is scripts/run_demo.sh: wipe the state, run batch 1, run batch 2 against that state, then run batch 2 again without resetting. After batch 1, 9 of 12 hours have a publishable difference. Batch 2 fills the late intervals and applies corrections, so 11 of 12. The replay reads 6 rows, all 6 are duplicates, and the demo diffs the outputs to prove the logical dataset and hourly report are byte-identical. All four public examples in the data contract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(~1.5 min) Concrete rows make the semantics tangible. NORTH midnight: a rev 2 RT correction sent with a -05:00 offset raises the RT mean from 41 to 46, diff 6 — that's one of the public examples. NORTH 01:00 was 3 of 4 intervals, so no diff; the late interval completes it. SOUTH 23:00 gets a DA correction from 30 to 32. SOUTH 01:00 had a rejected blank-price row; the valid rev 2 repairs it, and the rejected row stays in history. SOUTH 02:00 DA is still missing after both batches, and the report says so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(~1.5 min) This is the distinction the brief emphasizes. The run summary has two independent statuses. run_status says whether the pipeline worked. report_status says whether the trader can trust every hour, and lists the gaps by hub and hour. Batch 2 is a successful run with an incomplete report. Exit codes reflect pipeline health: 0 success, 2 ingest failure with rollback, 3 means prices committed but an export failed — rerunning is safe because every row becomes a duplicate. One next step: an optional flag so a scheduler can alert on an incomplete report without treating it as a crash.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(~1.5 min) I aimed for meaningful coverage rather than count. Tests are grouped by the risks that matter: time bucketing and aggregation, revision and replay semantics, invalid and missing data, and failure behavior. There's also a test that asserts every public example in the data contract. The failure tests matter for operations: a bad header or malformed quoting rolls back the whole batch, and an export failure leaves prices committed with a safe rerun.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(~2.5 min) Production: 2,000 hubs, ~240k prices a day, files every 15 minutes, 5-minute freshness, 50 traders querying a hub over one to seven days. That's small data, so I kept it event-driven and serverless. S3 landing is the immutable raw layer. An S3 event goes to SQS, which absorbs duplicate events and retries, with a DLQ for poison files. A Lambda reuses the prototype's validation and publishes each file in one Postgres transaction. Aurora Serverless v2 gives me transactions and ON CONFLICT, so 'highest revision wins, atomically per file' is a single statement. Traders get a read-only view. A scheduled checker compares expected intervals to what's landed. Only very large correction files take a Step Functions + Fargate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(~2.5 min) Go deeper on the first three. Operational excellence: the same 'run succeeded is not report complete' idea becomes two alarm families. No file landed means the provider is late; landed but not committed means we're late; committed but intervals missing means rejections or never sent. Security: three separated roles — vendor can only write to landing, ingest writes the DB, traders only read the views through SSO-mapped roles. Reliability: idempotency from the primary key, correctness from the revision guard, atomicity from one transaction per file, and a reader in a second AZ because a lone writer can take up to ~10 minutes to recover, which would break the 5-minute target. Cost is basically Aurora; I'm explicitly not paying for Redshift, EMR, Kinesis or Airflow at this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Failure drill: a correction file times out half way. Because the file is a single transaction, the killed connection rolls back and traders keep seeing the previous consistent prices. Because a hard timeout skips error handlers, I commit a receipt in its own transaction before parsing; a receipt stuck in 'received' raises an alarm. Retries are safe because of idempotency. After three failures it goes to the DLQ and pages on-call. Rejected alternative: a lakehouse on Iceberg and Athena is cheap and serverless with time travel, but at 96 tiny commits a day it brings compaction work, merge conflicts on corrections, and query latency that uses most of the 10-second budget. I'd add a nightly Iceberg export first if analytics needs grow.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(~1.5 min) Be candid. These limitations are deliberate scope cuts for a 4-hour exercise, each with a production answer in the AWS doc. With one more hour I'd prioritize what helps the trader trust the number: an alert path for incomplete reports, and an 'explain' command that prints every revision and rejected row behind a specific hub-hour. Then a lateness metric and an automated shuffle test — I checked order-independence by hand but it isn't automated.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 min) Wrap up: the trust comes from three things — an append-only history, a single revision rule that order can't break, and a report that is explicit about what's missing. The AWS design is the same model, sized for 2,000 hubs. Disclose AI use: Claude Code helped draft code, tests and docs; Codex reviewed independently, and its findings led to the strict CSV, revision range, export status and overflow fixes. I verified everything by running the tests and demo and checking the public examples by hand.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Market Pulse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Trustworthy day-ahead vs real-time prices: prototype, results and AWS design</a:t>
            </a:r>
            <a:endParaRPr lang="en-US" sz="2000" dirty="0"/>
          </a:p>
        </p:txBody>
      </p:sp>
      <p:sp>
        <p:nvSpPr>
          <p:cNvPr id="4" name="text-1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Maxwell Li  ·  Python 3.11 (stdlib) + SQLite  ·  ~2 hours build</a:t>
            </a:r>
            <a:endParaRPr lang="en-US" sz="1400" dirty="0"/>
          </a:p>
        </p:txBody>
      </p:sp>
      <p:sp>
        <p:nvSpPr>
          <p:cNvPr id="5" name="badge-2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-text-3"/>
          <p:cNvSpPr txBox="1"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$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question is about trust, not just a number</a:t>
            </a:r>
            <a:endParaRPr lang="en-US" sz="3400" dirty="0"/>
          </a:p>
        </p:txBody>
      </p:sp>
      <p:sp>
        <p:nvSpPr>
          <p:cNvPr id="3" name="card-4"/>
          <p:cNvSpPr/>
          <p:nvPr/>
        </p:nvSpPr>
        <p:spPr>
          <a:xfrm>
            <a:off x="548640" y="1371600"/>
            <a:ext cx="5120640" cy="4572000"/>
          </a:xfrm>
          <a:prstGeom prst="roundRect">
            <a:avLst>
              <a:gd name="adj" fmla="val 1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-5"/>
          <p:cNvSpPr txBox="1"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Trader asks</a:t>
            </a:r>
            <a:endParaRPr lang="en-US" sz="1400" dirty="0"/>
          </a:p>
        </p:txBody>
      </p:sp>
      <p:sp>
        <p:nvSpPr>
          <p:cNvPr id="5" name="text-6"/>
          <p:cNvSpPr txBox="1"/>
          <p:nvPr/>
        </p:nvSpPr>
        <p:spPr>
          <a:xfrm>
            <a:off x="868680" y="21031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did real-time prices compare with day-ahead at each hub, and can I trust the comparison?”</a:t>
            </a:r>
            <a:endParaRPr lang="en-US" sz="2400" dirty="0"/>
          </a:p>
        </p:txBody>
      </p:sp>
      <p:sp>
        <p:nvSpPr>
          <p:cNvPr id="6" name="text-7"/>
          <p:cNvSpPr txBox="1"/>
          <p:nvPr/>
        </p:nvSpPr>
        <p:spPr>
          <a:xfrm>
            <a:off x="868680" y="4572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 = 1 hour  ·  RT = 15 min  ·  USD/MWh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Output: RT mean − DA, per hub per hour</a:t>
            </a:r>
            <a:endParaRPr lang="en-US" sz="1400" dirty="0"/>
          </a:p>
        </p:txBody>
      </p:sp>
      <p:sp>
        <p:nvSpPr>
          <p:cNvPr id="7" name="badge-8"/>
          <p:cNvSpPr/>
          <p:nvPr/>
        </p:nvSpPr>
        <p:spPr>
          <a:xfrm>
            <a:off x="612648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-text-9"/>
          <p:cNvSpPr txBox="1"/>
          <p:nvPr/>
        </p:nvSpPr>
        <p:spPr>
          <a:xfrm>
            <a:off x="61264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-10"/>
          <p:cNvSpPr txBox="1"/>
          <p:nvPr/>
        </p:nvSpPr>
        <p:spPr>
          <a:xfrm>
            <a:off x="6766560" y="1417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Replays</a:t>
            </a:r>
            <a:endParaRPr lang="en-US" sz="1700" dirty="0"/>
          </a:p>
        </p:txBody>
      </p:sp>
      <p:sp>
        <p:nvSpPr>
          <p:cNvPr id="10" name="text-11"/>
          <p:cNvSpPr txBox="1"/>
          <p:nvPr/>
        </p:nvSpPr>
        <p:spPr>
          <a:xfrm>
            <a:off x="6766560" y="1783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Same record sent again must not duplicate</a:t>
            </a:r>
            <a:endParaRPr lang="en-US" sz="1400" dirty="0"/>
          </a:p>
        </p:txBody>
      </p:sp>
      <p:sp>
        <p:nvSpPr>
          <p:cNvPr id="11" name="badge-12"/>
          <p:cNvSpPr/>
          <p:nvPr/>
        </p:nvSpPr>
        <p:spPr>
          <a:xfrm>
            <a:off x="6126480" y="23591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-text-13"/>
          <p:cNvSpPr txBox="1"/>
          <p:nvPr/>
        </p:nvSpPr>
        <p:spPr>
          <a:xfrm>
            <a:off x="612648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-14"/>
          <p:cNvSpPr txBox="1"/>
          <p:nvPr/>
        </p:nvSpPr>
        <p:spPr>
          <a:xfrm>
            <a:off x="6766560" y="23134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Late intervals</a:t>
            </a:r>
            <a:endParaRPr lang="en-US" sz="1700" dirty="0"/>
          </a:p>
        </p:txBody>
      </p:sp>
      <p:sp>
        <p:nvSpPr>
          <p:cNvPr id="14" name="text-15"/>
          <p:cNvSpPr txBox="1"/>
          <p:nvPr/>
        </p:nvSpPr>
        <p:spPr>
          <a:xfrm>
            <a:off x="6766560" y="26791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Arrive in a later batch and fill gaps</a:t>
            </a:r>
            <a:endParaRPr lang="en-US" sz="1400" dirty="0"/>
          </a:p>
        </p:txBody>
      </p:sp>
      <p:sp>
        <p:nvSpPr>
          <p:cNvPr id="15" name="badge-16"/>
          <p:cNvSpPr/>
          <p:nvPr/>
        </p:nvSpPr>
        <p:spPr>
          <a:xfrm>
            <a:off x="6126480" y="32552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-text-17"/>
          <p:cNvSpPr txBox="1"/>
          <p:nvPr/>
        </p:nvSpPr>
        <p:spPr>
          <a:xfrm>
            <a:off x="612648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-18"/>
          <p:cNvSpPr txBox="1"/>
          <p:nvPr/>
        </p:nvSpPr>
        <p:spPr>
          <a:xfrm>
            <a:off x="6766560" y="32095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Corrections</a:t>
            </a:r>
            <a:endParaRPr lang="en-US" sz="1700" dirty="0"/>
          </a:p>
        </p:txBody>
      </p:sp>
      <p:sp>
        <p:nvSpPr>
          <p:cNvPr id="18" name="text-19"/>
          <p:cNvSpPr txBox="1"/>
          <p:nvPr/>
        </p:nvSpPr>
        <p:spPr>
          <a:xfrm>
            <a:off x="6766560" y="35753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Higher revision replaces earlier price</a:t>
            </a:r>
            <a:endParaRPr lang="en-US" sz="1400" dirty="0"/>
          </a:p>
        </p:txBody>
      </p:sp>
      <p:sp>
        <p:nvSpPr>
          <p:cNvPr id="19" name="badge-20"/>
          <p:cNvSpPr/>
          <p:nvPr/>
        </p:nvSpPr>
        <p:spPr>
          <a:xfrm>
            <a:off x="6126480" y="41513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-text-21"/>
          <p:cNvSpPr txBox="1"/>
          <p:nvPr/>
        </p:nvSpPr>
        <p:spPr>
          <a:xfrm>
            <a:off x="61264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-22"/>
          <p:cNvSpPr txBox="1"/>
          <p:nvPr/>
        </p:nvSpPr>
        <p:spPr>
          <a:xfrm>
            <a:off x="6766560" y="4105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Malformed rows</a:t>
            </a:r>
            <a:endParaRPr lang="en-US" sz="1700" dirty="0"/>
          </a:p>
        </p:txBody>
      </p:sp>
      <p:sp>
        <p:nvSpPr>
          <p:cNvPr id="22" name="text-23"/>
          <p:cNvSpPr txBox="1"/>
          <p:nvPr/>
        </p:nvSpPr>
        <p:spPr>
          <a:xfrm>
            <a:off x="6766560" y="447141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Rejected with a reason, never dropped silently</a:t>
            </a:r>
            <a:endParaRPr lang="en-US" sz="1400" dirty="0"/>
          </a:p>
        </p:txBody>
      </p:sp>
      <p:sp>
        <p:nvSpPr>
          <p:cNvPr id="23" name="badge-24"/>
          <p:cNvSpPr/>
          <p:nvPr/>
        </p:nvSpPr>
        <p:spPr>
          <a:xfrm>
            <a:off x="6126480" y="50474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badge-text-25"/>
          <p:cNvSpPr txBox="1"/>
          <p:nvPr/>
        </p:nvSpPr>
        <p:spPr>
          <a:xfrm>
            <a:off x="612648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-26"/>
          <p:cNvSpPr txBox="1"/>
          <p:nvPr/>
        </p:nvSpPr>
        <p:spPr>
          <a:xfrm>
            <a:off x="6766560" y="5001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Silent gaps</a:t>
            </a:r>
            <a:endParaRPr lang="en-US" sz="1700" dirty="0"/>
          </a:p>
        </p:txBody>
      </p:sp>
      <p:sp>
        <p:nvSpPr>
          <p:cNvPr id="26" name="text-27"/>
          <p:cNvSpPr txBox="1"/>
          <p:nvPr/>
        </p:nvSpPr>
        <p:spPr>
          <a:xfrm>
            <a:off x="6766560" y="53675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 run can succeed while the report is incomplete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Four steps, one batch at a time</a:t>
            </a:r>
            <a:endParaRPr lang="en-US" sz="3400" dirty="0"/>
          </a:p>
        </p:txBody>
      </p:sp>
      <p:sp>
        <p:nvSpPr>
          <p:cNvPr id="3" name="card-28"/>
          <p:cNvSpPr/>
          <p:nvPr/>
        </p:nvSpPr>
        <p:spPr>
          <a:xfrm>
            <a:off x="548640" y="1554480"/>
            <a:ext cx="2514600" cy="265176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29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30"/>
          <p:cNvSpPr txBox="1"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-31"/>
          <p:cNvSpPr txBox="1"/>
          <p:nvPr/>
        </p:nvSpPr>
        <p:spPr>
          <a:xfrm>
            <a:off x="822960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Ingest</a:t>
            </a:r>
            <a:endParaRPr lang="en-US" sz="2000" dirty="0"/>
          </a:p>
        </p:txBody>
      </p:sp>
      <p:sp>
        <p:nvSpPr>
          <p:cNvPr id="7" name="text-32"/>
          <p:cNvSpPr txBox="1"/>
          <p:nvPr/>
        </p:nvSpPr>
        <p:spPr>
          <a:xfrm>
            <a:off x="822960" y="29718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files listed in scenario.json, normalize to UTC, validate every row</a:t>
            </a:r>
            <a:endParaRPr lang="en-US" sz="1400" dirty="0"/>
          </a:p>
        </p:txBody>
      </p:sp>
      <p:sp>
        <p:nvSpPr>
          <p:cNvPr id="8" name="arrow-33"/>
          <p:cNvSpPr/>
          <p:nvPr/>
        </p:nvSpPr>
        <p:spPr>
          <a:xfrm>
            <a:off x="3090672" y="2743200"/>
            <a:ext cx="192024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rd-34"/>
          <p:cNvSpPr/>
          <p:nvPr/>
        </p:nvSpPr>
        <p:spPr>
          <a:xfrm>
            <a:off x="3310128" y="1554480"/>
            <a:ext cx="2514600" cy="265176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35"/>
          <p:cNvSpPr/>
          <p:nvPr/>
        </p:nvSpPr>
        <p:spPr>
          <a:xfrm>
            <a:off x="3584448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-text-36"/>
          <p:cNvSpPr txBox="1"/>
          <p:nvPr/>
        </p:nvSpPr>
        <p:spPr>
          <a:xfrm>
            <a:off x="358444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-37"/>
          <p:cNvSpPr txBox="1"/>
          <p:nvPr/>
        </p:nvSpPr>
        <p:spPr>
          <a:xfrm>
            <a:off x="3584448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History</a:t>
            </a:r>
            <a:endParaRPr lang="en-US" sz="2000" dirty="0"/>
          </a:p>
        </p:txBody>
      </p:sp>
      <p:sp>
        <p:nvSpPr>
          <p:cNvPr id="13" name="text-38"/>
          <p:cNvSpPr txBox="1"/>
          <p:nvPr/>
        </p:nvSpPr>
        <p:spPr>
          <a:xfrm>
            <a:off x="3584448" y="29718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Append-only price_revision + row log with an outcome per input row</a:t>
            </a:r>
            <a:endParaRPr lang="en-US" sz="1400" dirty="0"/>
          </a:p>
        </p:txBody>
      </p:sp>
      <p:sp>
        <p:nvSpPr>
          <p:cNvPr id="14" name="arrow-39"/>
          <p:cNvSpPr/>
          <p:nvPr/>
        </p:nvSpPr>
        <p:spPr>
          <a:xfrm>
            <a:off x="5852160" y="2743200"/>
            <a:ext cx="192024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ard-40"/>
          <p:cNvSpPr/>
          <p:nvPr/>
        </p:nvSpPr>
        <p:spPr>
          <a:xfrm>
            <a:off x="6071616" y="1554480"/>
            <a:ext cx="2514600" cy="265176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-41"/>
          <p:cNvSpPr/>
          <p:nvPr/>
        </p:nvSpPr>
        <p:spPr>
          <a:xfrm>
            <a:off x="6345936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adge-text-42"/>
          <p:cNvSpPr txBox="1"/>
          <p:nvPr/>
        </p:nvSpPr>
        <p:spPr>
          <a:xfrm>
            <a:off x="634593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-43"/>
          <p:cNvSpPr txBox="1"/>
          <p:nvPr/>
        </p:nvSpPr>
        <p:spPr>
          <a:xfrm>
            <a:off x="6345936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Curate</a:t>
            </a:r>
            <a:endParaRPr lang="en-US" sz="2000" dirty="0"/>
          </a:p>
        </p:txBody>
      </p:sp>
      <p:sp>
        <p:nvSpPr>
          <p:cNvPr id="19" name="text-44"/>
          <p:cNvSpPr txBox="1"/>
          <p:nvPr/>
        </p:nvSpPr>
        <p:spPr>
          <a:xfrm>
            <a:off x="6345936" y="29718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latest_price view: highest valid revision per business key</a:t>
            </a:r>
            <a:endParaRPr lang="en-US" sz="1400" dirty="0"/>
          </a:p>
        </p:txBody>
      </p:sp>
      <p:sp>
        <p:nvSpPr>
          <p:cNvPr id="20" name="arrow-45"/>
          <p:cNvSpPr/>
          <p:nvPr/>
        </p:nvSpPr>
        <p:spPr>
          <a:xfrm>
            <a:off x="8613648" y="2743200"/>
            <a:ext cx="192024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card-46"/>
          <p:cNvSpPr/>
          <p:nvPr/>
        </p:nvSpPr>
        <p:spPr>
          <a:xfrm>
            <a:off x="8833104" y="1554480"/>
            <a:ext cx="2514600" cy="265176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adge-47"/>
          <p:cNvSpPr/>
          <p:nvPr/>
        </p:nvSpPr>
        <p:spPr>
          <a:xfrm>
            <a:off x="9107424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badge-text-48"/>
          <p:cNvSpPr txBox="1"/>
          <p:nvPr/>
        </p:nvSpPr>
        <p:spPr>
          <a:xfrm>
            <a:off x="910742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-49"/>
          <p:cNvSpPr txBox="1"/>
          <p:nvPr/>
        </p:nvSpPr>
        <p:spPr>
          <a:xfrm>
            <a:off x="9107424" y="2514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Report</a:t>
            </a:r>
            <a:endParaRPr lang="en-US" sz="2000" dirty="0"/>
          </a:p>
        </p:txBody>
      </p:sp>
      <p:sp>
        <p:nvSpPr>
          <p:cNvPr id="25" name="text-50"/>
          <p:cNvSpPr txBox="1"/>
          <p:nvPr/>
        </p:nvSpPr>
        <p:spPr>
          <a:xfrm>
            <a:off x="9107424" y="29718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hourly_report.sql → CSV, plus JSON run summary</a:t>
            </a:r>
            <a:endParaRPr lang="en-US" sz="1400" dirty="0"/>
          </a:p>
        </p:txBody>
      </p:sp>
      <p:sp>
        <p:nvSpPr>
          <p:cNvPr id="26" name="card-51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-52"/>
          <p:cNvSpPr txBox="1"/>
          <p:nvPr/>
        </p:nvSpPr>
        <p:spPr>
          <a:xfrm>
            <a:off x="868680" y="4800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Why so small?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Python standard library + SQLite: zero install, one file of state, real SQL with window functions. The brief rewards a simple, understandable solution — and the same model carries straight over to PostgreSQL on AWS.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History is the source of truth; “latest” is derived</a:t>
            </a:r>
            <a:endParaRPr lang="en-US" sz="3400" dirty="0"/>
          </a:p>
        </p:txBody>
      </p:sp>
      <p:sp>
        <p:nvSpPr>
          <p:cNvPr id="3" name="card-53"/>
          <p:cNvSpPr/>
          <p:nvPr/>
        </p:nvSpPr>
        <p:spPr>
          <a:xfrm>
            <a:off x="548640" y="1417320"/>
            <a:ext cx="54406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-54"/>
          <p:cNvSpPr/>
          <p:nvPr/>
        </p:nvSpPr>
        <p:spPr>
          <a:xfrm>
            <a:off x="822960" y="1709928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-55"/>
          <p:cNvSpPr txBox="1"/>
          <p:nvPr/>
        </p:nvSpPr>
        <p:spPr>
          <a:xfrm>
            <a:off x="1280160" y="16459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price_revision</a:t>
            </a:r>
            <a:endParaRPr lang="en-US" sz="1900" dirty="0"/>
          </a:p>
        </p:txBody>
      </p:sp>
      <p:sp>
        <p:nvSpPr>
          <p:cNvPr id="6" name="text-56"/>
          <p:cNvSpPr txBox="1"/>
          <p:nvPr/>
        </p:nvSpPr>
        <p:spPr>
          <a:xfrm>
            <a:off x="1280160" y="20756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Append-only valid revisions</a:t>
            </a:r>
            <a:endParaRPr lang="en-US" sz="1400" dirty="0"/>
          </a:p>
        </p:txBody>
      </p:sp>
      <p:sp>
        <p:nvSpPr>
          <p:cNvPr id="7" name="text-57"/>
          <p:cNvSpPr txBox="1"/>
          <p:nvPr/>
        </p:nvSpPr>
        <p:spPr>
          <a:xfrm>
            <a:off x="1280160" y="24231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(market, hub, interval_start, revision)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replay = no-op insert</a:t>
            </a:r>
            <a:endParaRPr lang="en-US" sz="1300" dirty="0"/>
          </a:p>
        </p:txBody>
      </p:sp>
      <p:sp>
        <p:nvSpPr>
          <p:cNvPr id="8" name="card-58"/>
          <p:cNvSpPr/>
          <p:nvPr/>
        </p:nvSpPr>
        <p:spPr>
          <a:xfrm>
            <a:off x="6172200" y="1417320"/>
            <a:ext cx="54406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-59"/>
          <p:cNvSpPr/>
          <p:nvPr/>
        </p:nvSpPr>
        <p:spPr>
          <a:xfrm>
            <a:off x="6446520" y="1709928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-60"/>
          <p:cNvSpPr txBox="1"/>
          <p:nvPr/>
        </p:nvSpPr>
        <p:spPr>
          <a:xfrm>
            <a:off x="6903720" y="16459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ingest_row_log</a:t>
            </a:r>
            <a:endParaRPr lang="en-US" sz="1900" dirty="0"/>
          </a:p>
        </p:txBody>
      </p:sp>
      <p:sp>
        <p:nvSpPr>
          <p:cNvPr id="11" name="text-61"/>
          <p:cNvSpPr txBox="1"/>
          <p:nvPr/>
        </p:nvSpPr>
        <p:spPr>
          <a:xfrm>
            <a:off x="6903720" y="20756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One row per input row</a:t>
            </a:r>
            <a:endParaRPr lang="en-US" sz="1400" dirty="0"/>
          </a:p>
        </p:txBody>
      </p:sp>
      <p:sp>
        <p:nvSpPr>
          <p:cNvPr id="12" name="text-62"/>
          <p:cNvSpPr txBox="1"/>
          <p:nvPr/>
        </p:nvSpPr>
        <p:spPr>
          <a:xfrm>
            <a:off x="6903720" y="242316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 · duplicate · stale_revision · rejected + reason</a:t>
            </a:r>
            <a:endParaRPr lang="en-US" sz="1300" dirty="0"/>
          </a:p>
        </p:txBody>
      </p:sp>
      <p:sp>
        <p:nvSpPr>
          <p:cNvPr id="13" name="card-63"/>
          <p:cNvSpPr/>
          <p:nvPr/>
        </p:nvSpPr>
        <p:spPr>
          <a:xfrm>
            <a:off x="548640" y="3291840"/>
            <a:ext cx="54406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ot-64"/>
          <p:cNvSpPr/>
          <p:nvPr/>
        </p:nvSpPr>
        <p:spPr>
          <a:xfrm>
            <a:off x="822960" y="3584448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-65"/>
          <p:cNvSpPr txBox="1"/>
          <p:nvPr/>
        </p:nvSpPr>
        <p:spPr>
          <a:xfrm>
            <a:off x="1280160" y="35204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latest_price (view)</a:t>
            </a:r>
            <a:endParaRPr lang="en-US" sz="1900" dirty="0"/>
          </a:p>
        </p:txBody>
      </p:sp>
      <p:sp>
        <p:nvSpPr>
          <p:cNvPr id="16" name="text-66"/>
          <p:cNvSpPr txBox="1"/>
          <p:nvPr/>
        </p:nvSpPr>
        <p:spPr>
          <a:xfrm>
            <a:off x="1280160" y="39502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Winner per business key</a:t>
            </a:r>
            <a:endParaRPr lang="en-US" sz="1400" dirty="0"/>
          </a:p>
        </p:txBody>
      </p:sp>
      <p:sp>
        <p:nvSpPr>
          <p:cNvPr id="17" name="text-67"/>
          <p:cNvSpPr txBox="1"/>
          <p:nvPr/>
        </p:nvSpPr>
        <p:spPr>
          <a:xfrm>
            <a:off x="1280160" y="42976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ROW_NUMBER() OVER (… ORDER BY source_revision DESC) = 1</a:t>
            </a:r>
            <a:endParaRPr lang="en-US" sz="1300" dirty="0"/>
          </a:p>
        </p:txBody>
      </p:sp>
      <p:sp>
        <p:nvSpPr>
          <p:cNvPr id="18" name="card-68"/>
          <p:cNvSpPr/>
          <p:nvPr/>
        </p:nvSpPr>
        <p:spPr>
          <a:xfrm>
            <a:off x="6172200" y="3291840"/>
            <a:ext cx="54406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ot-69"/>
          <p:cNvSpPr/>
          <p:nvPr/>
        </p:nvSpPr>
        <p:spPr>
          <a:xfrm>
            <a:off x="6446520" y="3584448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-70"/>
          <p:cNvSpPr txBox="1"/>
          <p:nvPr/>
        </p:nvSpPr>
        <p:spPr>
          <a:xfrm>
            <a:off x="6903720" y="35204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rejected_record (view)</a:t>
            </a:r>
            <a:endParaRPr lang="en-US" sz="1900" dirty="0"/>
          </a:p>
        </p:txBody>
      </p:sp>
      <p:sp>
        <p:nvSpPr>
          <p:cNvPr id="21" name="text-71"/>
          <p:cNvSpPr txBox="1"/>
          <p:nvPr/>
        </p:nvSpPr>
        <p:spPr>
          <a:xfrm>
            <a:off x="6903720" y="39502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Invalid rows stay visible</a:t>
            </a:r>
            <a:endParaRPr lang="en-US" sz="1400" dirty="0"/>
          </a:p>
        </p:txBody>
      </p:sp>
      <p:sp>
        <p:nvSpPr>
          <p:cNvPr id="22" name="text-72"/>
          <p:cNvSpPr txBox="1"/>
          <p:nvPr/>
        </p:nvSpPr>
        <p:spPr>
          <a:xfrm>
            <a:off x="6903720" y="429768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file, line, reason code</a:t>
            </a:r>
            <a:endParaRPr lang="en-US" sz="1300" dirty="0"/>
          </a:p>
        </p:txBody>
      </p:sp>
      <p:sp>
        <p:nvSpPr>
          <p:cNvPr id="23" name="text-73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Lineage on every curated row: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source_file · source_row (physical CSV line) · file_sha256 · first_run_id. The original fixtures are the immutable raw layer.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Time: bucket by interval start, in UTC</a:t>
            </a:r>
            <a:endParaRPr lang="en-US" sz="3400" dirty="0"/>
          </a:p>
        </p:txBody>
      </p:sp>
      <p:sp>
        <p:nvSpPr>
          <p:cNvPr id="3" name="card-74"/>
          <p:cNvSpPr/>
          <p:nvPr/>
        </p:nvSpPr>
        <p:spPr>
          <a:xfrm>
            <a:off x="548640" y="1371600"/>
            <a:ext cx="566928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-75"/>
          <p:cNvSpPr txBox="1"/>
          <p:nvPr/>
        </p:nvSpPr>
        <p:spPr>
          <a:xfrm>
            <a:off x="822960" y="14173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interval_start = UTC(interval_end) − duration</a:t>
            </a:r>
            <a:endParaRPr lang="en-US" sz="2100" dirty="0"/>
          </a:p>
        </p:txBody>
      </p:sp>
      <p:sp>
        <p:nvSpPr>
          <p:cNvPr id="5" name="axis-76"/>
          <p:cNvSpPr/>
          <p:nvPr/>
        </p:nvSpPr>
        <p:spPr>
          <a:xfrm>
            <a:off x="731520" y="3749040"/>
            <a:ext cx="53035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tick-77"/>
          <p:cNvSpPr/>
          <p:nvPr/>
        </p:nvSpPr>
        <p:spPr>
          <a:xfrm>
            <a:off x="731520" y="3639312"/>
            <a:ext cx="0" cy="21945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text-78"/>
          <p:cNvSpPr txBox="1"/>
          <p:nvPr/>
        </p:nvSpPr>
        <p:spPr>
          <a:xfrm>
            <a:off x="320040" y="3931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23:00</a:t>
            </a:r>
            <a:endParaRPr lang="en-US" sz="1200" dirty="0"/>
          </a:p>
        </p:txBody>
      </p:sp>
      <p:sp>
        <p:nvSpPr>
          <p:cNvPr id="8" name="tick-79"/>
          <p:cNvSpPr/>
          <p:nvPr/>
        </p:nvSpPr>
        <p:spPr>
          <a:xfrm>
            <a:off x="2057400" y="3639312"/>
            <a:ext cx="0" cy="21945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text-80"/>
          <p:cNvSpPr txBox="1"/>
          <p:nvPr/>
        </p:nvSpPr>
        <p:spPr>
          <a:xfrm>
            <a:off x="1645920" y="3931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23:15</a:t>
            </a:r>
            <a:endParaRPr lang="en-US" sz="1200" dirty="0"/>
          </a:p>
        </p:txBody>
      </p:sp>
      <p:sp>
        <p:nvSpPr>
          <p:cNvPr id="10" name="tick-81"/>
          <p:cNvSpPr/>
          <p:nvPr/>
        </p:nvSpPr>
        <p:spPr>
          <a:xfrm>
            <a:off x="3383280" y="3639312"/>
            <a:ext cx="0" cy="21945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text-82"/>
          <p:cNvSpPr txBox="1"/>
          <p:nvPr/>
        </p:nvSpPr>
        <p:spPr>
          <a:xfrm>
            <a:off x="2971800" y="3931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23:30</a:t>
            </a:r>
            <a:endParaRPr lang="en-US" sz="1200" dirty="0"/>
          </a:p>
        </p:txBody>
      </p:sp>
      <p:sp>
        <p:nvSpPr>
          <p:cNvPr id="12" name="tick-83"/>
          <p:cNvSpPr/>
          <p:nvPr/>
        </p:nvSpPr>
        <p:spPr>
          <a:xfrm>
            <a:off x="4709160" y="3639312"/>
            <a:ext cx="0" cy="21945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3" name="text-84"/>
          <p:cNvSpPr txBox="1"/>
          <p:nvPr/>
        </p:nvSpPr>
        <p:spPr>
          <a:xfrm>
            <a:off x="4297680" y="3931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23:45</a:t>
            </a:r>
            <a:endParaRPr lang="en-US" sz="1200" dirty="0"/>
          </a:p>
        </p:txBody>
      </p:sp>
      <p:sp>
        <p:nvSpPr>
          <p:cNvPr id="14" name="tick-85"/>
          <p:cNvSpPr/>
          <p:nvPr/>
        </p:nvSpPr>
        <p:spPr>
          <a:xfrm>
            <a:off x="6035040" y="3639312"/>
            <a:ext cx="0" cy="21945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5" name="text-86"/>
          <p:cNvSpPr txBox="1"/>
          <p:nvPr/>
        </p:nvSpPr>
        <p:spPr>
          <a:xfrm>
            <a:off x="5623560" y="3931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00:00</a:t>
            </a:r>
            <a:endParaRPr lang="en-US" sz="1200" dirty="0"/>
          </a:p>
        </p:txBody>
      </p:sp>
      <p:sp>
        <p:nvSpPr>
          <p:cNvPr id="16" name="interval-87"/>
          <p:cNvSpPr/>
          <p:nvPr/>
        </p:nvSpPr>
        <p:spPr>
          <a:xfrm>
            <a:off x="4709160" y="3246120"/>
            <a:ext cx="1325880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-88"/>
          <p:cNvSpPr txBox="1"/>
          <p:nvPr/>
        </p:nvSpPr>
        <p:spPr>
          <a:xfrm>
            <a:off x="434340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RT ending 00:00Z</a:t>
            </a:r>
            <a:endParaRPr lang="en-US" sz="1300" dirty="0"/>
          </a:p>
        </p:txBody>
      </p:sp>
      <p:sp>
        <p:nvSpPr>
          <p:cNvPr id="18" name="text-89"/>
          <p:cNvSpPr txBox="1"/>
          <p:nvPr/>
        </p:nvSpPr>
        <p:spPr>
          <a:xfrm>
            <a:off x="731520" y="43434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→ starts 23:45, belongs to the 23:00 hour on Aug 17, not 00:00 on Aug 18</a:t>
            </a:r>
            <a:endParaRPr lang="en-US" sz="1500" dirty="0"/>
          </a:p>
        </p:txBody>
      </p:sp>
      <p:sp>
        <p:nvSpPr>
          <p:cNvPr id="19" name="badge-90"/>
          <p:cNvSpPr/>
          <p:nvPr/>
        </p:nvSpPr>
        <p:spPr>
          <a:xfrm>
            <a:off x="667512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-text-91"/>
          <p:cNvSpPr txBox="1"/>
          <p:nvPr/>
        </p:nvSpPr>
        <p:spPr>
          <a:xfrm>
            <a:off x="66751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-92"/>
          <p:cNvSpPr txBox="1"/>
          <p:nvPr/>
        </p:nvSpPr>
        <p:spPr>
          <a:xfrm>
            <a:off x="726948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Offsets collapse</a:t>
            </a:r>
            <a:endParaRPr lang="en-US" sz="1700" dirty="0"/>
          </a:p>
        </p:txBody>
      </p:sp>
      <p:sp>
        <p:nvSpPr>
          <p:cNvPr id="22" name="text-93"/>
          <p:cNvSpPr txBox="1"/>
          <p:nvPr/>
        </p:nvSpPr>
        <p:spPr>
          <a:xfrm>
            <a:off x="7269480" y="17556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19:45-05:00 and 00:45Z become the same key — batch 2 relies on this</a:t>
            </a:r>
            <a:endParaRPr lang="en-US" sz="1400" dirty="0"/>
          </a:p>
        </p:txBody>
      </p:sp>
      <p:sp>
        <p:nvSpPr>
          <p:cNvPr id="23" name="badge-94"/>
          <p:cNvSpPr/>
          <p:nvPr/>
        </p:nvSpPr>
        <p:spPr>
          <a:xfrm>
            <a:off x="667512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badge-text-95"/>
          <p:cNvSpPr txBox="1"/>
          <p:nvPr/>
        </p:nvSpPr>
        <p:spPr>
          <a:xfrm>
            <a:off x="66751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-96"/>
          <p:cNvSpPr txBox="1"/>
          <p:nvPr/>
        </p:nvSpPr>
        <p:spPr>
          <a:xfrm>
            <a:off x="7269480" y="2514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Canonical text</a:t>
            </a:r>
            <a:endParaRPr lang="en-US" sz="1700" dirty="0"/>
          </a:p>
        </p:txBody>
      </p:sp>
      <p:sp>
        <p:nvSpPr>
          <p:cNvPr id="26" name="text-97"/>
          <p:cNvSpPr txBox="1"/>
          <p:nvPr/>
        </p:nvSpPr>
        <p:spPr>
          <a:xfrm>
            <a:off x="7269480" y="28986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Stored as YYYY-MM-DDTHH:MM:SSZ, so string order = time order</a:t>
            </a:r>
            <a:endParaRPr lang="en-US" sz="1400" dirty="0"/>
          </a:p>
        </p:txBody>
      </p:sp>
      <p:sp>
        <p:nvSpPr>
          <p:cNvPr id="27" name="badge-98"/>
          <p:cNvSpPr/>
          <p:nvPr/>
        </p:nvSpPr>
        <p:spPr>
          <a:xfrm>
            <a:off x="6675120" y="3703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badge-text-99"/>
          <p:cNvSpPr txBox="1"/>
          <p:nvPr/>
        </p:nvSpPr>
        <p:spPr>
          <a:xfrm>
            <a:off x="667512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-100"/>
          <p:cNvSpPr txBox="1"/>
          <p:nvPr/>
        </p:nvSpPr>
        <p:spPr>
          <a:xfrm>
            <a:off x="7269480" y="3657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Alignment checked</a:t>
            </a:r>
            <a:endParaRPr lang="en-US" sz="1700" dirty="0"/>
          </a:p>
        </p:txBody>
      </p:sp>
      <p:sp>
        <p:nvSpPr>
          <p:cNvPr id="30" name="text-101"/>
          <p:cNvSpPr txBox="1"/>
          <p:nvPr/>
        </p:nvSpPr>
        <p:spPr>
          <a:xfrm>
            <a:off x="7269480" y="40416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RT must end on a quarter hour, DA on the hour</a:t>
            </a:r>
            <a:endParaRPr lang="en-US" sz="1400" dirty="0"/>
          </a:p>
        </p:txBody>
      </p:sp>
      <p:sp>
        <p:nvSpPr>
          <p:cNvPr id="31" name="badge-102"/>
          <p:cNvSpPr/>
          <p:nvPr/>
        </p:nvSpPr>
        <p:spPr>
          <a:xfrm>
            <a:off x="6675120" y="4846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badge-text-103"/>
          <p:cNvSpPr txBox="1"/>
          <p:nvPr/>
        </p:nvSpPr>
        <p:spPr>
          <a:xfrm>
            <a:off x="667512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-104"/>
          <p:cNvSpPr txBox="1"/>
          <p:nvPr/>
        </p:nvSpPr>
        <p:spPr>
          <a:xfrm>
            <a:off x="7269480" y="4800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published_at ≠ business time</a:t>
            </a:r>
            <a:endParaRPr lang="en-US" sz="1700" dirty="0"/>
          </a:p>
        </p:txBody>
      </p:sp>
      <p:sp>
        <p:nvSpPr>
          <p:cNvPr id="34" name="text-105"/>
          <p:cNvSpPr txBox="1"/>
          <p:nvPr/>
        </p:nvSpPr>
        <p:spPr>
          <a:xfrm>
            <a:off x="7269480" y="51846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Kept for audit, never used to pick a winner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Every input row gets exactly one outcome</a:t>
            </a:r>
            <a:endParaRPr lang="en-US" sz="3400" dirty="0"/>
          </a:p>
        </p:txBody>
      </p:sp>
      <p:sp>
        <p:nvSpPr>
          <p:cNvPr id="3" name="pill-106"/>
          <p:cNvSpPr/>
          <p:nvPr/>
        </p:nvSpPr>
        <p:spPr>
          <a:xfrm>
            <a:off x="548640" y="1371600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-107"/>
          <p:cNvSpPr txBox="1"/>
          <p:nvPr/>
        </p:nvSpPr>
        <p:spPr>
          <a:xfrm>
            <a:off x="5486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</a:t>
            </a:r>
            <a:endParaRPr lang="en-US" sz="1700" dirty="0"/>
          </a:p>
        </p:txBody>
      </p:sp>
      <p:sp>
        <p:nvSpPr>
          <p:cNvPr id="5" name="text-108"/>
          <p:cNvSpPr txBox="1"/>
          <p:nvPr/>
        </p:nvSpPr>
        <p:spPr>
          <a:xfrm>
            <a:off x="3154680" y="1371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valid revision stored in history</a:t>
            </a:r>
            <a:endParaRPr lang="en-US" sz="1400" dirty="0"/>
          </a:p>
        </p:txBody>
      </p:sp>
      <p:sp>
        <p:nvSpPr>
          <p:cNvPr id="6" name="pill-109"/>
          <p:cNvSpPr/>
          <p:nvPr/>
        </p:nvSpPr>
        <p:spPr>
          <a:xfrm>
            <a:off x="548640" y="2395728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-110"/>
          <p:cNvSpPr txBox="1"/>
          <p:nvPr/>
        </p:nvSpPr>
        <p:spPr>
          <a:xfrm>
            <a:off x="548640" y="23957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</a:t>
            </a:r>
            <a:endParaRPr lang="en-US" sz="1700" dirty="0"/>
          </a:p>
        </p:txBody>
      </p:sp>
      <p:sp>
        <p:nvSpPr>
          <p:cNvPr id="8" name="text-111"/>
          <p:cNvSpPr txBox="1"/>
          <p:nvPr/>
        </p:nvSpPr>
        <p:spPr>
          <a:xfrm>
            <a:off x="3154680" y="23957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key + revision + value already stored (within file or across runs)</a:t>
            </a:r>
            <a:endParaRPr lang="en-US" sz="1400" dirty="0"/>
          </a:p>
        </p:txBody>
      </p:sp>
      <p:sp>
        <p:nvSpPr>
          <p:cNvPr id="9" name="pill-112"/>
          <p:cNvSpPr/>
          <p:nvPr/>
        </p:nvSpPr>
        <p:spPr>
          <a:xfrm>
            <a:off x="548640" y="3419856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113"/>
          <p:cNvSpPr txBox="1"/>
          <p:nvPr/>
        </p:nvSpPr>
        <p:spPr>
          <a:xfrm>
            <a:off x="548640" y="341985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stale_revision</a:t>
            </a:r>
            <a:endParaRPr lang="en-US" sz="1700" dirty="0"/>
          </a:p>
        </p:txBody>
      </p:sp>
      <p:sp>
        <p:nvSpPr>
          <p:cNvPr id="11" name="text-114"/>
          <p:cNvSpPr txBox="1"/>
          <p:nvPr/>
        </p:nvSpPr>
        <p:spPr>
          <a:xfrm>
            <a:off x="3154680" y="341985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Valid, new to history, but older than the winner — kept for lineage, can’t win</a:t>
            </a:r>
            <a:endParaRPr lang="en-US" sz="1400" dirty="0"/>
          </a:p>
        </p:txBody>
      </p:sp>
      <p:sp>
        <p:nvSpPr>
          <p:cNvPr id="12" name="pill-115"/>
          <p:cNvSpPr/>
          <p:nvPr/>
        </p:nvSpPr>
        <p:spPr>
          <a:xfrm>
            <a:off x="548640" y="4443984"/>
            <a:ext cx="2377440" cy="82296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-116"/>
          <p:cNvSpPr txBox="1"/>
          <p:nvPr/>
        </p:nvSpPr>
        <p:spPr>
          <a:xfrm>
            <a:off x="548640" y="444398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endParaRPr lang="en-US" sz="1700" dirty="0"/>
          </a:p>
        </p:txBody>
      </p:sp>
      <p:sp>
        <p:nvSpPr>
          <p:cNvPr id="14" name="text-117"/>
          <p:cNvSpPr txBox="1"/>
          <p:nvPr/>
        </p:nvSpPr>
        <p:spPr>
          <a:xfrm>
            <a:off x="3154680" y="444398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Reason code + file + line: missing_price, unknown_hub, unparseable_interval_end, market_file_mismatch, conflicting_revision…</a:t>
            </a:r>
            <a:endParaRPr lang="en-US" sz="1400" dirty="0"/>
          </a:p>
        </p:txBody>
      </p:sp>
      <p:sp>
        <p:nvSpPr>
          <p:cNvPr id="15" name="card-118"/>
          <p:cNvSpPr/>
          <p:nvPr/>
        </p:nvSpPr>
        <p:spPr>
          <a:xfrm>
            <a:off x="7589520" y="1371600"/>
            <a:ext cx="4023360" cy="3931920"/>
          </a:xfrm>
          <a:prstGeom prst="roundRect">
            <a:avLst>
              <a:gd name="adj" fmla="val 186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-119"/>
          <p:cNvSpPr txBox="1"/>
          <p:nvPr/>
        </p:nvSpPr>
        <p:spPr>
          <a:xfrm>
            <a:off x="786384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Deliberate edge calls</a:t>
            </a:r>
            <a:endParaRPr lang="en-US" sz="1700" dirty="0"/>
          </a:p>
        </p:txBody>
      </p:sp>
      <p:sp>
        <p:nvSpPr>
          <p:cNvPr id="17" name="text-120"/>
          <p:cNvSpPr txBox="1"/>
          <p:nvPr/>
        </p:nvSpPr>
        <p:spPr>
          <a:xfrm>
            <a:off x="7863840" y="205740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Validate before picking a winner: a blank-price rev 1 is never a candidate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Same key + revision, different value → reject loudly, don’t overwrite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 row inside real_time.csv → market_file_mismatch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Malformed CSV quoting fails the whole batch and rolls back</a:t>
            </a:r>
            <a:endParaRPr lang="en-US" sz="1500" dirty="0"/>
          </a:p>
        </p:txBody>
      </p:sp>
      <p:sp>
        <p:nvSpPr>
          <p:cNvPr id="18" name="text-121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Batch 1: 61 rows → 57 accepted · 1 duplicate · 3 rejected (missing price, unknown hub, bad timestamp)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Hourly SQL: start from the grid, never invent data</a:t>
            </a:r>
            <a:endParaRPr lang="en-US" sz="3400" dirty="0"/>
          </a:p>
        </p:txBody>
      </p:sp>
      <p:sp>
        <p:nvSpPr>
          <p:cNvPr id="3" name="card-122"/>
          <p:cNvSpPr/>
          <p:nvPr/>
        </p:nvSpPr>
        <p:spPr>
          <a:xfrm>
            <a:off x="548640" y="1371600"/>
            <a:ext cx="6309360" cy="4572000"/>
          </a:xfrm>
          <a:prstGeom prst="roundRect">
            <a:avLst>
              <a:gd name="adj" fmla="val 1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-123"/>
          <p:cNvSpPr txBox="1"/>
          <p:nvPr/>
        </p:nvSpPr>
        <p:spPr>
          <a:xfrm>
            <a:off x="822960" y="160020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RECURSIVE hours AS (…window…),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AS (SELECT hub_id, hour_start_utc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FROM hub CROSS JOIN hours),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 AS (SELECT hub_id, hour(interval_start),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AVG(price / 4) * 4      AS rt_mean,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COUNT(DISTINCT interval_start) AS rt_present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FROM latest_price WHERE market='RT' …)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…,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WHEN rt_present = 4 AND da IS NOT NULL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THEN rt_mean - da END AS rt_minus_da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grid LEFT JOIN da … LEFT JOIN rt …</a:t>
            </a:r>
            <a:endParaRPr lang="en-US" sz="1400" dirty="0"/>
          </a:p>
        </p:txBody>
      </p:sp>
      <p:sp>
        <p:nvSpPr>
          <p:cNvPr id="5" name="badge-124"/>
          <p:cNvSpPr/>
          <p:nvPr/>
        </p:nvSpPr>
        <p:spPr>
          <a:xfrm>
            <a:off x="7223760" y="1417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-text-125"/>
          <p:cNvSpPr txBox="1"/>
          <p:nvPr/>
        </p:nvSpPr>
        <p:spPr>
          <a:xfrm>
            <a:off x="72237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-126"/>
          <p:cNvSpPr txBox="1"/>
          <p:nvPr/>
        </p:nvSpPr>
        <p:spPr>
          <a:xfrm>
            <a:off x="781812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Grid first</a:t>
            </a:r>
            <a:endParaRPr lang="en-US" sz="1700" dirty="0"/>
          </a:p>
        </p:txBody>
      </p:sp>
      <p:sp>
        <p:nvSpPr>
          <p:cNvPr id="8" name="text-127"/>
          <p:cNvSpPr txBox="1"/>
          <p:nvPr/>
        </p:nvSpPr>
        <p:spPr>
          <a:xfrm>
            <a:off x="7818120" y="1755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hub × hour generated, then LEFT JOIN: always 12 rows, gaps show as NULL / 0 count</a:t>
            </a:r>
            <a:endParaRPr lang="en-US" sz="1400" dirty="0"/>
          </a:p>
        </p:txBody>
      </p:sp>
      <p:sp>
        <p:nvSpPr>
          <p:cNvPr id="9" name="badge-128"/>
          <p:cNvSpPr/>
          <p:nvPr/>
        </p:nvSpPr>
        <p:spPr>
          <a:xfrm>
            <a:off x="722376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-text-129"/>
          <p:cNvSpPr txBox="1"/>
          <p:nvPr/>
        </p:nvSpPr>
        <p:spPr>
          <a:xfrm>
            <a:off x="722376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-130"/>
          <p:cNvSpPr txBox="1"/>
          <p:nvPr/>
        </p:nvSpPr>
        <p:spPr>
          <a:xfrm>
            <a:off x="7818120" y="2514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Diff only when trustworthy</a:t>
            </a:r>
            <a:endParaRPr lang="en-US" sz="1700" dirty="0"/>
          </a:p>
        </p:txBody>
      </p:sp>
      <p:sp>
        <p:nvSpPr>
          <p:cNvPr id="12" name="text-131"/>
          <p:cNvSpPr txBox="1"/>
          <p:nvPr/>
        </p:nvSpPr>
        <p:spPr>
          <a:xfrm>
            <a:off x="7818120" y="2898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Published only with all 4 RT intervals and a DA price</a:t>
            </a:r>
            <a:endParaRPr lang="en-US" sz="1400" dirty="0"/>
          </a:p>
        </p:txBody>
      </p:sp>
      <p:sp>
        <p:nvSpPr>
          <p:cNvPr id="13" name="badge-132"/>
          <p:cNvSpPr/>
          <p:nvPr/>
        </p:nvSpPr>
        <p:spPr>
          <a:xfrm>
            <a:off x="7223760" y="3703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adge-text-133"/>
          <p:cNvSpPr txBox="1"/>
          <p:nvPr/>
        </p:nvSpPr>
        <p:spPr>
          <a:xfrm>
            <a:off x="722376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-134"/>
          <p:cNvSpPr txBox="1"/>
          <p:nvPr/>
        </p:nvSpPr>
        <p:spPr>
          <a:xfrm>
            <a:off x="781812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Never zero-fill</a:t>
            </a:r>
            <a:endParaRPr lang="en-US" sz="1700" dirty="0"/>
          </a:p>
        </p:txBody>
      </p:sp>
      <p:sp>
        <p:nvSpPr>
          <p:cNvPr id="16" name="text-135"/>
          <p:cNvSpPr txBox="1"/>
          <p:nvPr/>
        </p:nvSpPr>
        <p:spPr>
          <a:xfrm>
            <a:off x="7818120" y="4041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Missing price stays NULL; RT mean of 3 is shown but flagged incomplete</a:t>
            </a:r>
            <a:endParaRPr lang="en-US" sz="1400" dirty="0"/>
          </a:p>
        </p:txBody>
      </p:sp>
      <p:sp>
        <p:nvSpPr>
          <p:cNvPr id="17" name="badge-136"/>
          <p:cNvSpPr/>
          <p:nvPr/>
        </p:nvSpPr>
        <p:spPr>
          <a:xfrm>
            <a:off x="7223760" y="4846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adge-text-137"/>
          <p:cNvSpPr txBox="1"/>
          <p:nvPr/>
        </p:nvSpPr>
        <p:spPr>
          <a:xfrm>
            <a:off x="722376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-138"/>
          <p:cNvSpPr txBox="1"/>
          <p:nvPr/>
        </p:nvSpPr>
        <p:spPr>
          <a:xfrm>
            <a:off x="781812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 inf</a:t>
            </a:r>
            <a:endParaRPr lang="en-US" sz="1700" dirty="0"/>
          </a:p>
        </p:txBody>
      </p:sp>
      <p:sp>
        <p:nvSpPr>
          <p:cNvPr id="20" name="text-139"/>
          <p:cNvSpPr txBox="1"/>
          <p:nvPr/>
        </p:nvSpPr>
        <p:spPr>
          <a:xfrm>
            <a:off x="7818120" y="51846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AVG(p/4)*4 avoids overflow on huge valid prices; unrepresentable diff → NULL + gap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Demo: batch 1 → batch 2 → replay of batch 2</a:t>
            </a:r>
            <a:endParaRPr lang="en-US" sz="3400" dirty="0"/>
          </a:p>
        </p:txBody>
      </p:sp>
      <p:sp>
        <p:nvSpPr>
          <p:cNvPr id="3" name="text-140"/>
          <p:cNvSpPr txBox="1"/>
          <p:nvPr/>
        </p:nvSpPr>
        <p:spPr>
          <a:xfrm>
            <a:off x="54864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Hours with a publishable RT − DA (of 12)</a:t>
            </a:r>
            <a:endParaRPr lang="en-US" sz="1600" dirty="0"/>
          </a:p>
        </p:txBody>
      </p:sp>
      <p:sp>
        <p:nvSpPr>
          <p:cNvPr id="4" name="card-141"/>
          <p:cNvSpPr/>
          <p:nvPr/>
        </p:nvSpPr>
        <p:spPr>
          <a:xfrm>
            <a:off x="548640" y="1828800"/>
            <a:ext cx="1737360" cy="2194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142"/>
          <p:cNvSpPr txBox="1"/>
          <p:nvPr/>
        </p:nvSpPr>
        <p:spPr>
          <a:xfrm>
            <a:off x="548640" y="2011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600" dirty="0"/>
          </a:p>
        </p:txBody>
      </p:sp>
      <p:sp>
        <p:nvSpPr>
          <p:cNvPr id="6" name="text-143"/>
          <p:cNvSpPr txBox="1"/>
          <p:nvPr/>
        </p:nvSpPr>
        <p:spPr>
          <a:xfrm>
            <a:off x="54864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/ 12</a:t>
            </a:r>
            <a:endParaRPr lang="en-US" sz="1500" dirty="0"/>
          </a:p>
        </p:txBody>
      </p:sp>
      <p:sp>
        <p:nvSpPr>
          <p:cNvPr id="7" name="text-144"/>
          <p:cNvSpPr txBox="1"/>
          <p:nvPr/>
        </p:nvSpPr>
        <p:spPr>
          <a:xfrm>
            <a:off x="54864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After batch_01</a:t>
            </a:r>
            <a:endParaRPr lang="en-US" sz="1300" dirty="0"/>
          </a:p>
        </p:txBody>
      </p:sp>
      <p:sp>
        <p:nvSpPr>
          <p:cNvPr id="8" name="card-145"/>
          <p:cNvSpPr/>
          <p:nvPr/>
        </p:nvSpPr>
        <p:spPr>
          <a:xfrm>
            <a:off x="2468880" y="1828800"/>
            <a:ext cx="1737360" cy="2194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146"/>
          <p:cNvSpPr txBox="1"/>
          <p:nvPr/>
        </p:nvSpPr>
        <p:spPr>
          <a:xfrm>
            <a:off x="2468880" y="2011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600" dirty="0"/>
          </a:p>
        </p:txBody>
      </p:sp>
      <p:sp>
        <p:nvSpPr>
          <p:cNvPr id="10" name="text-147"/>
          <p:cNvSpPr txBox="1"/>
          <p:nvPr/>
        </p:nvSpPr>
        <p:spPr>
          <a:xfrm>
            <a:off x="246888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/ 12</a:t>
            </a:r>
            <a:endParaRPr lang="en-US" sz="1500" dirty="0"/>
          </a:p>
        </p:txBody>
      </p:sp>
      <p:sp>
        <p:nvSpPr>
          <p:cNvPr id="11" name="text-148"/>
          <p:cNvSpPr txBox="1"/>
          <p:nvPr/>
        </p:nvSpPr>
        <p:spPr>
          <a:xfrm>
            <a:off x="246888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After batch_02</a:t>
            </a:r>
            <a:endParaRPr lang="en-US" sz="1300" dirty="0"/>
          </a:p>
        </p:txBody>
      </p:sp>
      <p:sp>
        <p:nvSpPr>
          <p:cNvPr id="12" name="card-149"/>
          <p:cNvSpPr/>
          <p:nvPr/>
        </p:nvSpPr>
        <p:spPr>
          <a:xfrm>
            <a:off x="4389120" y="1828800"/>
            <a:ext cx="1737360" cy="21945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-150"/>
          <p:cNvSpPr txBox="1"/>
          <p:nvPr/>
        </p:nvSpPr>
        <p:spPr>
          <a:xfrm>
            <a:off x="4389120" y="20116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600" dirty="0"/>
          </a:p>
        </p:txBody>
      </p:sp>
      <p:sp>
        <p:nvSpPr>
          <p:cNvPr id="14" name="text-151"/>
          <p:cNvSpPr txBox="1"/>
          <p:nvPr/>
        </p:nvSpPr>
        <p:spPr>
          <a:xfrm>
            <a:off x="4389120" y="3154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/ 12</a:t>
            </a:r>
            <a:endParaRPr lang="en-US" sz="1500" dirty="0"/>
          </a:p>
        </p:txBody>
      </p:sp>
      <p:sp>
        <p:nvSpPr>
          <p:cNvPr id="15" name="text-152"/>
          <p:cNvSpPr txBox="1"/>
          <p:nvPr/>
        </p:nvSpPr>
        <p:spPr>
          <a:xfrm>
            <a:off x="438912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Replay batch_02</a:t>
            </a:r>
            <a:endParaRPr lang="en-US" sz="1300" dirty="0"/>
          </a:p>
        </p:txBody>
      </p:sp>
      <p:sp>
        <p:nvSpPr>
          <p:cNvPr id="16" name="card-153"/>
          <p:cNvSpPr/>
          <p:nvPr/>
        </p:nvSpPr>
        <p:spPr>
          <a:xfrm>
            <a:off x="548640" y="4343400"/>
            <a:ext cx="557784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-154"/>
          <p:cNvSpPr txBox="1"/>
          <p:nvPr/>
        </p:nvSpPr>
        <p:spPr>
          <a:xfrm>
            <a:off x="868680" y="434340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All 4 public examples match.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The one remaining hour (SOUTH 02:00) has no DA price in any batch, so no difference is published.</a:t>
            </a:r>
            <a:endParaRPr lang="en-US" sz="1500" dirty="0"/>
          </a:p>
        </p:txBody>
      </p:sp>
      <p:graphicFrame>
        <p:nvGraphicFramePr>
          <p:cNvPr id="9" name="table-1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463040"/>
          <a:ext cx="5029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43000"/>
                <a:gridCol w="114300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Batch 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Batch 2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Replay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Rows read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Accepted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57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Duplicate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Rejected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Latest rows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57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Report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incomplete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incomplete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unchanged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" name="text-156"/>
          <p:cNvSpPr txBox="1"/>
          <p:nvPr/>
        </p:nvSpPr>
        <p:spPr>
          <a:xfrm>
            <a:off x="6583680" y="4846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Replay: diff of hourly and latest CSVs is empty — only run id and timestamps change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batch 2 changed, hour by hour</a:t>
            </a:r>
            <a:endParaRPr lang="en-US" sz="3400" dirty="0"/>
          </a:p>
        </p:txBody>
      </p:sp>
      <p:graphicFrame>
        <p:nvGraphicFramePr>
          <p:cNvPr id="10" name="table-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256032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Hub · hour (UTC)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After batch 1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After batch 2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NORTH 00:00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RT 41 · diff 1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RT 46 · diff 6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RT correction (rev 2, sent as −05:00)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NORTH 01:00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RT 3/4 · diff null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RT 4/4 · diff 0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Late interval arrives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SOUTH 23:00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DA 30 · diff 1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DA 32 · diff −1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DA correction (rev 2)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SOUTH 01:00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RT 3/4 · diff null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RT 4/4 · diff 1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Rejected row repaired by rev 2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SOUTH 02:00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3"/>
                          </a:solidFill>
                        </a:rPr>
                        <a:t>DA missing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3"/>
                          </a:solidFill>
                        </a:rPr>
                        <a:t>DA missing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accent3"/>
                          </a:solidFill>
                        </a:rPr>
                        <a:t>Still a gap — reported, not hidden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ard-158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-159"/>
          <p:cNvSpPr txBox="1"/>
          <p:nvPr/>
        </p:nvSpPr>
        <p:spPr>
          <a:xfrm>
            <a:off x="868680" y="51663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Also in batch 2: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repeated row and an offset-equivalent replay → both counted as duplicate, nothing changes.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 completed run is not a complete report</a:t>
            </a:r>
            <a:endParaRPr lang="en-US" sz="3400" dirty="0"/>
          </a:p>
        </p:txBody>
      </p:sp>
      <p:sp>
        <p:nvSpPr>
          <p:cNvPr id="3" name="card-160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161"/>
          <p:cNvSpPr txBox="1"/>
          <p:nvPr/>
        </p:nvSpPr>
        <p:spPr>
          <a:xfrm>
            <a:off x="86868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run_status</a:t>
            </a:r>
            <a:endParaRPr lang="en-US" sz="2000" dirty="0"/>
          </a:p>
        </p:txBody>
      </p:sp>
      <p:sp>
        <p:nvSpPr>
          <p:cNvPr id="5" name="text-162"/>
          <p:cNvSpPr txBox="1"/>
          <p:nvPr/>
        </p:nvSpPr>
        <p:spPr>
          <a:xfrm>
            <a:off x="868680" y="2103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Did the pipeline do its job? succeeded / failed, plus export_status</a:t>
            </a:r>
            <a:endParaRPr lang="en-US" sz="1500" dirty="0"/>
          </a:p>
        </p:txBody>
      </p:sp>
      <p:sp>
        <p:nvSpPr>
          <p:cNvPr id="6" name="text-163"/>
          <p:cNvSpPr txBox="1"/>
          <p:nvPr/>
        </p:nvSpPr>
        <p:spPr>
          <a:xfrm>
            <a:off x="86868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Batch 2: succeeded</a:t>
            </a:r>
            <a:endParaRPr lang="en-US" sz="1600" dirty="0"/>
          </a:p>
        </p:txBody>
      </p:sp>
      <p:sp>
        <p:nvSpPr>
          <p:cNvPr id="7" name="card-164"/>
          <p:cNvSpPr/>
          <p:nvPr/>
        </p:nvSpPr>
        <p:spPr>
          <a:xfrm>
            <a:off x="621792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165"/>
          <p:cNvSpPr txBox="1"/>
          <p:nvPr/>
        </p:nvSpPr>
        <p:spPr>
          <a:xfrm>
            <a:off x="6537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data_quality.report_status</a:t>
            </a:r>
            <a:endParaRPr lang="en-US" sz="2000" dirty="0"/>
          </a:p>
        </p:txBody>
      </p:sp>
      <p:sp>
        <p:nvSpPr>
          <p:cNvPr id="9" name="text-166"/>
          <p:cNvSpPr txBox="1"/>
          <p:nvPr/>
        </p:nvSpPr>
        <p:spPr>
          <a:xfrm>
            <a:off x="6537960" y="2103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Can a trader trust every hour? complete / incomplete, with a list of gaps</a:t>
            </a:r>
            <a:endParaRPr lang="en-US" sz="1500" dirty="0"/>
          </a:p>
        </p:txBody>
      </p:sp>
      <p:sp>
        <p:nvSpPr>
          <p:cNvPr id="10" name="text-167"/>
          <p:cNvSpPr txBox="1"/>
          <p:nvPr/>
        </p:nvSpPr>
        <p:spPr>
          <a:xfrm>
            <a:off x="653796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Batch 2: incomplete — SOUTH 02:00 “da missing”</a:t>
            </a:r>
            <a:endParaRPr lang="en-US" sz="1600" dirty="0"/>
          </a:p>
        </p:txBody>
      </p:sp>
      <p:sp>
        <p:nvSpPr>
          <p:cNvPr id="11" name="text-168"/>
          <p:cNvSpPr txBox="1"/>
          <p:nvPr/>
        </p:nvSpPr>
        <p:spPr>
          <a:xfrm>
            <a:off x="54864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Exit codes</a:t>
            </a:r>
            <a:endParaRPr lang="en-US" sz="1700" dirty="0"/>
          </a:p>
        </p:txBody>
      </p:sp>
      <p:sp>
        <p:nvSpPr>
          <p:cNvPr id="12" name="badge-169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badge-text-170"/>
          <p:cNvSpPr txBox="1"/>
          <p:nvPr/>
        </p:nvSpPr>
        <p:spPr>
          <a:xfrm>
            <a:off x="5486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0</a:t>
            </a:r>
            <a:endParaRPr lang="en-US" sz="1400" dirty="0"/>
          </a:p>
        </p:txBody>
      </p:sp>
      <p:sp>
        <p:nvSpPr>
          <p:cNvPr id="14" name="text-171"/>
          <p:cNvSpPr txBox="1"/>
          <p:nvPr/>
        </p:nvSpPr>
        <p:spPr>
          <a:xfrm>
            <a:off x="1188720" y="4343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Ingest + exports OK (report may still be incomplete)</a:t>
            </a:r>
            <a:endParaRPr lang="en-US" sz="1500" dirty="0"/>
          </a:p>
        </p:txBody>
      </p:sp>
      <p:sp>
        <p:nvSpPr>
          <p:cNvPr id="15" name="badge-172"/>
          <p:cNvSpPr/>
          <p:nvPr/>
        </p:nvSpPr>
        <p:spPr>
          <a:xfrm>
            <a:off x="548640" y="489204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badge-text-173"/>
          <p:cNvSpPr txBox="1"/>
          <p:nvPr/>
        </p:nvSpPr>
        <p:spPr>
          <a:xfrm>
            <a:off x="54864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-174"/>
          <p:cNvSpPr txBox="1"/>
          <p:nvPr/>
        </p:nvSpPr>
        <p:spPr>
          <a:xfrm>
            <a:off x="1188720" y="4892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Ingest failed: file-level error, transaction rolled back, run marked failed</a:t>
            </a:r>
            <a:endParaRPr lang="en-US" sz="1500" dirty="0"/>
          </a:p>
        </p:txBody>
      </p:sp>
      <p:sp>
        <p:nvSpPr>
          <p:cNvPr id="18" name="badge-175"/>
          <p:cNvSpPr/>
          <p:nvPr/>
        </p:nvSpPr>
        <p:spPr>
          <a:xfrm>
            <a:off x="548640" y="54406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badge-text-176"/>
          <p:cNvSpPr txBox="1"/>
          <p:nvPr/>
        </p:nvSpPr>
        <p:spPr>
          <a:xfrm>
            <a:off x="548640" y="5440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-177"/>
          <p:cNvSpPr txBox="1"/>
          <p:nvPr/>
        </p:nvSpPr>
        <p:spPr>
          <a:xfrm>
            <a:off x="1188720" y="5440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Prices committed, export failed; rerun is safe (all duplicates) and rewrites files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17 focused tests, grouped by risk</a:t>
            </a:r>
            <a:endParaRPr lang="en-US" sz="3400" dirty="0"/>
          </a:p>
        </p:txBody>
      </p:sp>
      <p:sp>
        <p:nvSpPr>
          <p:cNvPr id="3" name="card-178"/>
          <p:cNvSpPr/>
          <p:nvPr/>
        </p:nvSpPr>
        <p:spPr>
          <a:xfrm>
            <a:off x="548640" y="1371600"/>
            <a:ext cx="2606040" cy="39319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79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-text-180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6" name="text-181"/>
          <p:cNvSpPr txBox="1"/>
          <p:nvPr/>
        </p:nvSpPr>
        <p:spPr>
          <a:xfrm>
            <a:off x="77724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Time &amp; aggregation</a:t>
            </a:r>
            <a:endParaRPr lang="en-US" sz="1700" dirty="0"/>
          </a:p>
        </p:txBody>
      </p:sp>
      <p:sp>
        <p:nvSpPr>
          <p:cNvPr id="7" name="text-182"/>
          <p:cNvSpPr txBox="1"/>
          <p:nvPr/>
        </p:nvSpPr>
        <p:spPr>
          <a:xfrm>
            <a:off x="777240" y="274320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End − duration; offsets normalize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RT ending on the hour → previous hour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Grid keeps every hub/hour, nulls not zeros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Huge valid prices never produce inf</a:t>
            </a:r>
            <a:endParaRPr lang="en-US" sz="1500" dirty="0"/>
          </a:p>
        </p:txBody>
      </p:sp>
      <p:sp>
        <p:nvSpPr>
          <p:cNvPr id="8" name="card-183"/>
          <p:cNvSpPr/>
          <p:nvPr/>
        </p:nvSpPr>
        <p:spPr>
          <a:xfrm>
            <a:off x="3367735" y="1371600"/>
            <a:ext cx="2606040" cy="39319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184"/>
          <p:cNvSpPr/>
          <p:nvPr/>
        </p:nvSpPr>
        <p:spPr>
          <a:xfrm>
            <a:off x="3596335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-text-185"/>
          <p:cNvSpPr txBox="1"/>
          <p:nvPr/>
        </p:nvSpPr>
        <p:spPr>
          <a:xfrm>
            <a:off x="3596335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1" name="text-186"/>
          <p:cNvSpPr txBox="1"/>
          <p:nvPr/>
        </p:nvSpPr>
        <p:spPr>
          <a:xfrm>
            <a:off x="3596335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Revisions &amp; replay</a:t>
            </a:r>
            <a:endParaRPr lang="en-US" sz="1700" dirty="0"/>
          </a:p>
        </p:txBody>
      </p:sp>
      <p:sp>
        <p:nvSpPr>
          <p:cNvPr id="12" name="text-187"/>
          <p:cNvSpPr txBox="1"/>
          <p:nvPr/>
        </p:nvSpPr>
        <p:spPr>
          <a:xfrm>
            <a:off x="3596335" y="274320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Correction wins; older revision later doesn’t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Higher revision keeps lineage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Replay + offset-equivalent are idempotent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Rejected row repaired later stays in history</a:t>
            </a:r>
            <a:endParaRPr lang="en-US" sz="1500" dirty="0"/>
          </a:p>
        </p:txBody>
      </p:sp>
      <p:sp>
        <p:nvSpPr>
          <p:cNvPr id="13" name="card-188"/>
          <p:cNvSpPr/>
          <p:nvPr/>
        </p:nvSpPr>
        <p:spPr>
          <a:xfrm>
            <a:off x="6186830" y="1371600"/>
            <a:ext cx="2606040" cy="39319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189"/>
          <p:cNvSpPr/>
          <p:nvPr/>
        </p:nvSpPr>
        <p:spPr>
          <a:xfrm>
            <a:off x="641543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-text-190"/>
          <p:cNvSpPr txBox="1"/>
          <p:nvPr/>
        </p:nvSpPr>
        <p:spPr>
          <a:xfrm>
            <a:off x="641543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16" name="text-191"/>
          <p:cNvSpPr txBox="1"/>
          <p:nvPr/>
        </p:nvSpPr>
        <p:spPr>
          <a:xfrm>
            <a:off x="641543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Invalid &amp; missing</a:t>
            </a:r>
            <a:endParaRPr lang="en-US" sz="1700" dirty="0"/>
          </a:p>
        </p:txBody>
      </p:sp>
      <p:sp>
        <p:nvSpPr>
          <p:cNvPr id="17" name="text-192"/>
          <p:cNvSpPr txBox="1"/>
          <p:nvPr/>
        </p:nvSpPr>
        <p:spPr>
          <a:xfrm>
            <a:off x="6415430" y="274320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Specific reason codes; extreme timestamps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Negative, zero, spike prices are valid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Complete RT without DA → no diff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Bad header / bad quoting → rollback</a:t>
            </a:r>
            <a:endParaRPr lang="en-US" sz="1500" dirty="0"/>
          </a:p>
        </p:txBody>
      </p:sp>
      <p:sp>
        <p:nvSpPr>
          <p:cNvPr id="18" name="card-193"/>
          <p:cNvSpPr/>
          <p:nvPr/>
        </p:nvSpPr>
        <p:spPr>
          <a:xfrm>
            <a:off x="9005926" y="1371600"/>
            <a:ext cx="2606040" cy="393192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-194"/>
          <p:cNvSpPr/>
          <p:nvPr/>
        </p:nvSpPr>
        <p:spPr>
          <a:xfrm>
            <a:off x="9234526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-text-195"/>
          <p:cNvSpPr txBox="1"/>
          <p:nvPr/>
        </p:nvSpPr>
        <p:spPr>
          <a:xfrm>
            <a:off x="9234526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-196"/>
          <p:cNvSpPr txBox="1"/>
          <p:nvPr/>
        </p:nvSpPr>
        <p:spPr>
          <a:xfrm>
            <a:off x="9234526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Failure &amp; contract</a:t>
            </a:r>
            <a:endParaRPr lang="en-US" sz="1700" dirty="0"/>
          </a:p>
        </p:txBody>
      </p:sp>
      <p:sp>
        <p:nvSpPr>
          <p:cNvPr id="22" name="text-197"/>
          <p:cNvSpPr txBox="1"/>
          <p:nvPr/>
        </p:nvSpPr>
        <p:spPr>
          <a:xfrm>
            <a:off x="9234526" y="2743200"/>
            <a:ext cx="2240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Export failure keeps prices; rerun recovers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Report failure → structured export failure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public examples from DATA_CONTRACT</a:t>
            </a:r>
            <a:endParaRPr lang="en-US" sz="1500" dirty="0"/>
          </a:p>
        </p:txBody>
      </p:sp>
      <p:sp>
        <p:nvSpPr>
          <p:cNvPr id="23" name="text-198"/>
          <p:cNvSpPr txBox="1"/>
          <p:nvPr/>
        </p:nvSpPr>
        <p:spPr>
          <a:xfrm>
            <a:off x="548640" y="5577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unittest discover -s tests -t . -v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AWS: event-driven, serverless, one transaction per file</a:t>
            </a:r>
            <a:endParaRPr lang="en-US" sz="3400" dirty="0"/>
          </a:p>
        </p:txBody>
      </p:sp>
      <p:sp>
        <p:nvSpPr>
          <p:cNvPr id="3" name="card-199"/>
          <p:cNvSpPr/>
          <p:nvPr/>
        </p:nvSpPr>
        <p:spPr>
          <a:xfrm>
            <a:off x="548640" y="1371600"/>
            <a:ext cx="1371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200"/>
          <p:cNvSpPr txBox="1"/>
          <p:nvPr/>
        </p:nvSpPr>
        <p:spPr>
          <a:xfrm>
            <a:off x="68580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Vendor</a:t>
            </a:r>
            <a:endParaRPr lang="en-US" sz="1400" dirty="0"/>
          </a:p>
        </p:txBody>
      </p:sp>
      <p:sp>
        <p:nvSpPr>
          <p:cNvPr id="5" name="text-201"/>
          <p:cNvSpPr txBox="1"/>
          <p:nvPr/>
        </p:nvSpPr>
        <p:spPr>
          <a:xfrm>
            <a:off x="685800" y="1783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every 15 min</a:t>
            </a:r>
            <a:endParaRPr lang="en-US" sz="1200" dirty="0"/>
          </a:p>
        </p:txBody>
      </p:sp>
      <p:sp>
        <p:nvSpPr>
          <p:cNvPr id="6" name="card-202"/>
          <p:cNvSpPr/>
          <p:nvPr/>
        </p:nvSpPr>
        <p:spPr>
          <a:xfrm>
            <a:off x="2286000" y="1371600"/>
            <a:ext cx="18288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203"/>
          <p:cNvSpPr txBox="1"/>
          <p:nvPr/>
        </p:nvSpPr>
        <p:spPr>
          <a:xfrm>
            <a:off x="24231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S3 landing</a:t>
            </a:r>
            <a:endParaRPr lang="en-US" sz="1400" dirty="0"/>
          </a:p>
        </p:txBody>
      </p:sp>
      <p:sp>
        <p:nvSpPr>
          <p:cNvPr id="8" name="text-204"/>
          <p:cNvSpPr txBox="1"/>
          <p:nvPr/>
        </p:nvSpPr>
        <p:spPr>
          <a:xfrm>
            <a:off x="242316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raw, versioned, KMS</a:t>
            </a:r>
            <a:endParaRPr lang="en-US" sz="1200" dirty="0"/>
          </a:p>
        </p:txBody>
      </p:sp>
      <p:sp>
        <p:nvSpPr>
          <p:cNvPr id="9" name="card-205"/>
          <p:cNvSpPr/>
          <p:nvPr/>
        </p:nvSpPr>
        <p:spPr>
          <a:xfrm>
            <a:off x="4480560" y="1371600"/>
            <a:ext cx="22860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206"/>
          <p:cNvSpPr txBox="1"/>
          <p:nvPr/>
        </p:nvSpPr>
        <p:spPr>
          <a:xfrm>
            <a:off x="461772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SQS + DLQ</a:t>
            </a:r>
            <a:endParaRPr lang="en-US" sz="1400" dirty="0"/>
          </a:p>
        </p:txBody>
      </p:sp>
      <p:sp>
        <p:nvSpPr>
          <p:cNvPr id="11" name="text-207"/>
          <p:cNvSpPr txBox="1"/>
          <p:nvPr/>
        </p:nvSpPr>
        <p:spPr>
          <a:xfrm>
            <a:off x="461772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retries · poison → alarm</a:t>
            </a:r>
            <a:endParaRPr lang="en-US" sz="1200" dirty="0"/>
          </a:p>
        </p:txBody>
      </p:sp>
      <p:sp>
        <p:nvSpPr>
          <p:cNvPr id="12" name="card-208"/>
          <p:cNvSpPr/>
          <p:nvPr/>
        </p:nvSpPr>
        <p:spPr>
          <a:xfrm>
            <a:off x="4480560" y="2606040"/>
            <a:ext cx="22860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-209"/>
          <p:cNvSpPr txBox="1"/>
          <p:nvPr/>
        </p:nvSpPr>
        <p:spPr>
          <a:xfrm>
            <a:off x="461772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Lambda ingest</a:t>
            </a:r>
            <a:endParaRPr lang="en-US" sz="1400" dirty="0"/>
          </a:p>
        </p:txBody>
      </p:sp>
      <p:sp>
        <p:nvSpPr>
          <p:cNvPr id="14" name="text-210"/>
          <p:cNvSpPr txBox="1"/>
          <p:nvPr/>
        </p:nvSpPr>
        <p:spPr>
          <a:xfrm>
            <a:off x="4617720" y="3017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validate · 1 txn per file</a:t>
            </a:r>
            <a:endParaRPr lang="en-US" sz="1200" dirty="0"/>
          </a:p>
        </p:txBody>
      </p:sp>
      <p:sp>
        <p:nvSpPr>
          <p:cNvPr id="15" name="card-211"/>
          <p:cNvSpPr/>
          <p:nvPr/>
        </p:nvSpPr>
        <p:spPr>
          <a:xfrm>
            <a:off x="548640" y="2606040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212"/>
          <p:cNvSpPr txBox="1"/>
          <p:nvPr/>
        </p:nvSpPr>
        <p:spPr>
          <a:xfrm>
            <a:off x="68580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Step Functions → Fargate</a:t>
            </a:r>
            <a:endParaRPr lang="en-US" sz="1400" dirty="0"/>
          </a:p>
        </p:txBody>
      </p:sp>
      <p:sp>
        <p:nvSpPr>
          <p:cNvPr id="17" name="text-213"/>
          <p:cNvSpPr txBox="1"/>
          <p:nvPr/>
        </p:nvSpPr>
        <p:spPr>
          <a:xfrm>
            <a:off x="68580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large files and rebuilds only</a:t>
            </a:r>
            <a:endParaRPr lang="en-US" sz="1200" dirty="0"/>
          </a:p>
        </p:txBody>
      </p:sp>
      <p:sp>
        <p:nvSpPr>
          <p:cNvPr id="18" name="card-214"/>
          <p:cNvSpPr/>
          <p:nvPr/>
        </p:nvSpPr>
        <p:spPr>
          <a:xfrm>
            <a:off x="548640" y="3840480"/>
            <a:ext cx="62179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-215"/>
          <p:cNvSpPr txBox="1"/>
          <p:nvPr/>
        </p:nvSpPr>
        <p:spPr>
          <a:xfrm>
            <a:off x="685800" y="3931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Aurora PostgreSQL Serverless v2 (writer + reader, 2 AZs)</a:t>
            </a:r>
            <a:endParaRPr lang="en-US" sz="1400" dirty="0"/>
          </a:p>
        </p:txBody>
      </p:sp>
      <p:sp>
        <p:nvSpPr>
          <p:cNvPr id="20" name="text-216"/>
          <p:cNvSpPr txBox="1"/>
          <p:nvPr/>
        </p:nvSpPr>
        <p:spPr>
          <a:xfrm>
            <a:off x="685800" y="42519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price_revision · latest_price (guarded upsert) · ingest_receipt · row log · hourly view</a:t>
            </a:r>
            <a:endParaRPr lang="en-US" sz="1200" dirty="0"/>
          </a:p>
        </p:txBody>
      </p:sp>
      <p:sp>
        <p:nvSpPr>
          <p:cNvPr id="21" name="card-217"/>
          <p:cNvSpPr/>
          <p:nvPr/>
        </p:nvSpPr>
        <p:spPr>
          <a:xfrm>
            <a:off x="548640" y="5303520"/>
            <a:ext cx="35661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-218"/>
          <p:cNvSpPr txBox="1"/>
          <p:nvPr/>
        </p:nvSpPr>
        <p:spPr>
          <a:xfrm>
            <a:off x="685800" y="5394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Completeness checker</a:t>
            </a:r>
            <a:endParaRPr lang="en-US" sz="1400" dirty="0"/>
          </a:p>
        </p:txBody>
      </p:sp>
      <p:sp>
        <p:nvSpPr>
          <p:cNvPr id="23" name="text-219"/>
          <p:cNvSpPr txBox="1"/>
          <p:nvPr/>
        </p:nvSpPr>
        <p:spPr>
          <a:xfrm>
            <a:off x="685800" y="5715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EventBridge 5 min → CloudWatch → SNS</a:t>
            </a:r>
            <a:endParaRPr lang="en-US" sz="1200" dirty="0"/>
          </a:p>
        </p:txBody>
      </p:sp>
      <p:sp>
        <p:nvSpPr>
          <p:cNvPr id="24" name="card-220"/>
          <p:cNvSpPr/>
          <p:nvPr/>
        </p:nvSpPr>
        <p:spPr>
          <a:xfrm>
            <a:off x="4480560" y="5303520"/>
            <a:ext cx="22860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-221"/>
          <p:cNvSpPr txBox="1"/>
          <p:nvPr/>
        </p:nvSpPr>
        <p:spPr>
          <a:xfrm>
            <a:off x="4617720" y="5394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50 traders</a:t>
            </a:r>
            <a:endParaRPr lang="en-US" sz="1400" dirty="0"/>
          </a:p>
        </p:txBody>
      </p:sp>
      <p:sp>
        <p:nvSpPr>
          <p:cNvPr id="26" name="text-222"/>
          <p:cNvSpPr txBox="1"/>
          <p:nvPr/>
        </p:nvSpPr>
        <p:spPr>
          <a:xfrm>
            <a:off x="4617720" y="5715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read-only views via SSO</a:t>
            </a:r>
            <a:endParaRPr lang="en-US" sz="1200" dirty="0"/>
          </a:p>
        </p:txBody>
      </p:sp>
      <p:sp>
        <p:nvSpPr>
          <p:cNvPr id="27" name="arrow-223"/>
          <p:cNvSpPr/>
          <p:nvPr/>
        </p:nvSpPr>
        <p:spPr>
          <a:xfrm>
            <a:off x="1920240" y="1760220"/>
            <a:ext cx="36576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28" name="arrow-224"/>
          <p:cNvSpPr/>
          <p:nvPr/>
        </p:nvSpPr>
        <p:spPr>
          <a:xfrm>
            <a:off x="4114800" y="1760220"/>
            <a:ext cx="36576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29" name="arrow-225"/>
          <p:cNvSpPr/>
          <p:nvPr/>
        </p:nvSpPr>
        <p:spPr>
          <a:xfrm>
            <a:off x="5623560" y="2148840"/>
            <a:ext cx="0" cy="45720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30" name="arrow-226"/>
          <p:cNvSpPr/>
          <p:nvPr/>
        </p:nvSpPr>
        <p:spPr>
          <a:xfrm>
            <a:off x="4114800" y="2994660"/>
            <a:ext cx="36576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headEnd type="triangle"/>
          </a:ln>
        </p:spPr>
      </p:sp>
      <p:sp>
        <p:nvSpPr>
          <p:cNvPr id="31" name="arrow-227"/>
          <p:cNvSpPr/>
          <p:nvPr/>
        </p:nvSpPr>
        <p:spPr>
          <a:xfrm>
            <a:off x="5623560" y="3383280"/>
            <a:ext cx="0" cy="45720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32" name="arrow-228"/>
          <p:cNvSpPr/>
          <p:nvPr/>
        </p:nvSpPr>
        <p:spPr>
          <a:xfrm>
            <a:off x="2331720" y="3383280"/>
            <a:ext cx="0" cy="45720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33" name="arrow-229"/>
          <p:cNvSpPr/>
          <p:nvPr/>
        </p:nvSpPr>
        <p:spPr>
          <a:xfrm>
            <a:off x="5623560" y="4846320"/>
            <a:ext cx="0" cy="45720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headEnd type="triangle"/>
          </a:ln>
        </p:spPr>
      </p:sp>
      <p:sp>
        <p:nvSpPr>
          <p:cNvPr id="34" name="arrow-230"/>
          <p:cNvSpPr/>
          <p:nvPr/>
        </p:nvSpPr>
        <p:spPr>
          <a:xfrm>
            <a:off x="2331720" y="4846320"/>
            <a:ext cx="0" cy="45720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  <a:headEnd type="triangle"/>
          </a:ln>
        </p:spPr>
      </p:sp>
      <p:sp>
        <p:nvSpPr>
          <p:cNvPr id="35" name="badge-231"/>
          <p:cNvSpPr/>
          <p:nvPr/>
        </p:nvSpPr>
        <p:spPr>
          <a:xfrm>
            <a:off x="7223760" y="135331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badge-text-232"/>
          <p:cNvSpPr txBox="1"/>
          <p:nvPr/>
        </p:nvSpPr>
        <p:spPr>
          <a:xfrm>
            <a:off x="722376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37" name="text-233"/>
          <p:cNvSpPr txBox="1"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S3 landing</a:t>
            </a:r>
            <a:endParaRPr lang="en-US" sz="1600" dirty="0"/>
          </a:p>
        </p:txBody>
      </p:sp>
      <p:sp>
        <p:nvSpPr>
          <p:cNvPr id="38" name="text-234"/>
          <p:cNvSpPr txBox="1"/>
          <p:nvPr/>
        </p:nvSpPr>
        <p:spPr>
          <a:xfrm>
            <a:off x="7772400" y="1691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Immutable raw layer, versioned, KMS; vendor can only PutObject</a:t>
            </a:r>
            <a:endParaRPr lang="en-US" sz="1400" dirty="0"/>
          </a:p>
        </p:txBody>
      </p:sp>
      <p:sp>
        <p:nvSpPr>
          <p:cNvPr id="39" name="badge-235"/>
          <p:cNvSpPr/>
          <p:nvPr/>
        </p:nvSpPr>
        <p:spPr>
          <a:xfrm>
            <a:off x="7223760" y="23774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badge-text-236"/>
          <p:cNvSpPr txBox="1"/>
          <p:nvPr/>
        </p:nvSpPr>
        <p:spPr>
          <a:xfrm>
            <a:off x="722376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41" name="text-237"/>
          <p:cNvSpPr txBox="1"/>
          <p:nvPr/>
        </p:nvSpPr>
        <p:spPr>
          <a:xfrm>
            <a:off x="7772400" y="2350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SQS + DLQ → Lambda</a:t>
            </a:r>
            <a:endParaRPr lang="en-US" sz="1600" dirty="0"/>
          </a:p>
        </p:txBody>
      </p:sp>
      <p:sp>
        <p:nvSpPr>
          <p:cNvPr id="42" name="text-238"/>
          <p:cNvSpPr txBox="1"/>
          <p:nvPr/>
        </p:nvSpPr>
        <p:spPr>
          <a:xfrm>
            <a:off x="7772400" y="27157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Retry duplicates safely; poison files isolated and alarmed</a:t>
            </a:r>
            <a:endParaRPr lang="en-US" sz="1400" dirty="0"/>
          </a:p>
        </p:txBody>
      </p:sp>
      <p:sp>
        <p:nvSpPr>
          <p:cNvPr id="43" name="badge-239"/>
          <p:cNvSpPr/>
          <p:nvPr/>
        </p:nvSpPr>
        <p:spPr>
          <a:xfrm>
            <a:off x="7223760" y="3401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badge-text-240"/>
          <p:cNvSpPr txBox="1"/>
          <p:nvPr/>
        </p:nvSpPr>
        <p:spPr>
          <a:xfrm>
            <a:off x="722376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45" name="text-241"/>
          <p:cNvSpPr txBox="1"/>
          <p:nvPr/>
        </p:nvSpPr>
        <p:spPr>
          <a:xfrm>
            <a:off x="7772400" y="33741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Aurora PostgreSQL Serverless v2</a:t>
            </a:r>
            <a:endParaRPr lang="en-US" sz="1600" dirty="0"/>
          </a:p>
        </p:txBody>
      </p:sp>
      <p:sp>
        <p:nvSpPr>
          <p:cNvPr id="46" name="text-242"/>
          <p:cNvSpPr txBox="1"/>
          <p:nvPr/>
        </p:nvSpPr>
        <p:spPr>
          <a:xfrm>
            <a:off x="7772400" y="373989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Same model: price_revision, guarded latest_price upsert, row log</a:t>
            </a:r>
            <a:endParaRPr lang="en-US" sz="1400" dirty="0"/>
          </a:p>
        </p:txBody>
      </p:sp>
      <p:sp>
        <p:nvSpPr>
          <p:cNvPr id="47" name="badge-243"/>
          <p:cNvSpPr/>
          <p:nvPr/>
        </p:nvSpPr>
        <p:spPr>
          <a:xfrm>
            <a:off x="7223760" y="442569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badge-text-244"/>
          <p:cNvSpPr txBox="1"/>
          <p:nvPr/>
        </p:nvSpPr>
        <p:spPr>
          <a:xfrm>
            <a:off x="722376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49" name="text-245"/>
          <p:cNvSpPr txBox="1"/>
          <p:nvPr/>
        </p:nvSpPr>
        <p:spPr>
          <a:xfrm>
            <a:off x="7772400" y="43982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Completeness checker</a:t>
            </a:r>
            <a:endParaRPr lang="en-US" sz="1600" dirty="0"/>
          </a:p>
        </p:txBody>
      </p:sp>
      <p:sp>
        <p:nvSpPr>
          <p:cNvPr id="50" name="text-246"/>
          <p:cNvSpPr txBox="1"/>
          <p:nvPr/>
        </p:nvSpPr>
        <p:spPr>
          <a:xfrm>
            <a:off x="7772400" y="476402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Every 5 min: expected vs actual intervals, vendor lag</a:t>
            </a:r>
            <a:endParaRPr lang="en-US" sz="1400" dirty="0"/>
          </a:p>
        </p:txBody>
      </p:sp>
      <p:sp>
        <p:nvSpPr>
          <p:cNvPr id="51" name="badge-247"/>
          <p:cNvSpPr/>
          <p:nvPr/>
        </p:nvSpPr>
        <p:spPr>
          <a:xfrm>
            <a:off x="7223760" y="54498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2" name="badge-text-248"/>
          <p:cNvSpPr txBox="1"/>
          <p:nvPr/>
        </p:nvSpPr>
        <p:spPr>
          <a:xfrm>
            <a:off x="7223760" y="5449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</a:t>
            </a:r>
            <a:endParaRPr lang="en-US" sz="1400" dirty="0"/>
          </a:p>
        </p:txBody>
      </p:sp>
      <p:sp>
        <p:nvSpPr>
          <p:cNvPr id="53" name="text-249"/>
          <p:cNvSpPr txBox="1"/>
          <p:nvPr/>
        </p:nvSpPr>
        <p:spPr>
          <a:xfrm>
            <a:off x="7772400" y="5422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Large files only</a:t>
            </a:r>
            <a:endParaRPr lang="en-US" sz="1600" dirty="0"/>
          </a:p>
        </p:txBody>
      </p:sp>
      <p:sp>
        <p:nvSpPr>
          <p:cNvPr id="54" name="text-250"/>
          <p:cNvSpPr txBox="1"/>
          <p:nvPr/>
        </p:nvSpPr>
        <p:spPr>
          <a:xfrm>
            <a:off x="7772400" y="578815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Step Functions → Fargate, staged then one guarded publish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Well-Architected: one decision and one trade-off per pillar</a:t>
            </a:r>
            <a:endParaRPr lang="en-US" sz="3400" dirty="0"/>
          </a:p>
        </p:txBody>
      </p:sp>
      <p:graphicFrame>
        <p:nvGraphicFramePr>
          <p:cNvPr id="14" name="table-2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39496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Pillar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Concrete decision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Trade-off / revisit when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Operational excellence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Two signals: pipeline health vs completeness; provider late vs pipeline late vs rejected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Alarm on age thresholds + aggregates, not per interval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Security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Vendor PutObject only; ingest role writes DB; traders SELECT views via SSO; KMS, private subnets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Row-level security if per-trader entitlements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Reliability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PK incl. revision; guarded upsert; 1 txn per file; reader in 2nd AZ; rebuild from S3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Reader doubles min compute; no cross-region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Performance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Monthly partitions, index (hub, market, interval) for 1–7 day queries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Iceberg/Athena if cross-hub 2-year scans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Cost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Driven by Aurora ACU-hours; avoid Redshift, EMR, Kinesis, MWAA, NAT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Reserved RDS if min ACU dominates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Sustainability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Compute only on file arrival; recompute changed keys; tier + expire raw data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Aurora always on vs fully on-demand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Failure drill and the alternative I rejected</a:t>
            </a:r>
            <a:endParaRPr lang="en-US" sz="3400" dirty="0"/>
          </a:p>
        </p:txBody>
      </p:sp>
      <p:sp>
        <p:nvSpPr>
          <p:cNvPr id="3" name="card-252"/>
          <p:cNvSpPr/>
          <p:nvPr/>
        </p:nvSpPr>
        <p:spPr>
          <a:xfrm>
            <a:off x="548640" y="1371600"/>
            <a:ext cx="603504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253"/>
          <p:cNvSpPr txBox="1"/>
          <p:nvPr/>
        </p:nvSpPr>
        <p:spPr>
          <a:xfrm>
            <a:off x="868680" y="1554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Lambda times out mid-way through a 30k-row correction file</a:t>
            </a:r>
            <a:endParaRPr lang="en-US" sz="1700" dirty="0"/>
          </a:p>
        </p:txBody>
      </p:sp>
      <p:sp>
        <p:nvSpPr>
          <p:cNvPr id="5" name="badge-254"/>
          <p:cNvSpPr/>
          <p:nvPr/>
        </p:nvSpPr>
        <p:spPr>
          <a:xfrm>
            <a:off x="868680" y="23957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-text-255"/>
          <p:cNvSpPr txBox="1"/>
          <p:nvPr/>
        </p:nvSpPr>
        <p:spPr>
          <a:xfrm>
            <a:off x="86868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-256"/>
          <p:cNvSpPr txBox="1"/>
          <p:nvPr/>
        </p:nvSpPr>
        <p:spPr>
          <a:xfrm>
            <a:off x="1417320" y="2377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Nothing half-published</a:t>
            </a:r>
            <a:endParaRPr lang="en-US" sz="1500" dirty="0"/>
          </a:p>
        </p:txBody>
      </p:sp>
      <p:sp>
        <p:nvSpPr>
          <p:cNvPr id="8" name="text-257"/>
          <p:cNvSpPr txBox="1"/>
          <p:nvPr/>
        </p:nvSpPr>
        <p:spPr>
          <a:xfrm>
            <a:off x="1417320" y="27066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Connection drops, Postgres rolls back; traders keep previous revisions</a:t>
            </a:r>
            <a:endParaRPr lang="en-US" sz="1300" dirty="0"/>
          </a:p>
        </p:txBody>
      </p:sp>
      <p:sp>
        <p:nvSpPr>
          <p:cNvPr id="9" name="badge-258"/>
          <p:cNvSpPr/>
          <p:nvPr/>
        </p:nvSpPr>
        <p:spPr>
          <a:xfrm>
            <a:off x="868680" y="32644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-text-259"/>
          <p:cNvSpPr txBox="1"/>
          <p:nvPr/>
        </p:nvSpPr>
        <p:spPr>
          <a:xfrm>
            <a:off x="8686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-260"/>
          <p:cNvSpPr txBox="1"/>
          <p:nvPr/>
        </p:nvSpPr>
        <p:spPr>
          <a:xfrm>
            <a:off x="141732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Failure stays visible</a:t>
            </a:r>
            <a:endParaRPr lang="en-US" sz="1500" dirty="0"/>
          </a:p>
        </p:txBody>
      </p:sp>
      <p:sp>
        <p:nvSpPr>
          <p:cNvPr id="12" name="text-261"/>
          <p:cNvSpPr txBox="1"/>
          <p:nvPr/>
        </p:nvSpPr>
        <p:spPr>
          <a:xfrm>
            <a:off x="1417320" y="35753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Receipt committed first; stuck in ‘received’ → alarm</a:t>
            </a:r>
            <a:endParaRPr lang="en-US" sz="1300" dirty="0"/>
          </a:p>
        </p:txBody>
      </p:sp>
      <p:sp>
        <p:nvSpPr>
          <p:cNvPr id="13" name="badge-262"/>
          <p:cNvSpPr/>
          <p:nvPr/>
        </p:nvSpPr>
        <p:spPr>
          <a:xfrm>
            <a:off x="868680" y="41330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badge-text-263"/>
          <p:cNvSpPr txBox="1"/>
          <p:nvPr/>
        </p:nvSpPr>
        <p:spPr>
          <a:xfrm>
            <a:off x="86868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-264"/>
          <p:cNvSpPr txBox="1"/>
          <p:nvPr/>
        </p:nvSpPr>
        <p:spPr>
          <a:xfrm>
            <a:off x="141732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Retry is safe</a:t>
            </a:r>
            <a:endParaRPr lang="en-US" sz="1500" dirty="0"/>
          </a:p>
        </p:txBody>
      </p:sp>
      <p:sp>
        <p:nvSpPr>
          <p:cNvPr id="16" name="text-265"/>
          <p:cNvSpPr txBox="1"/>
          <p:nvPr/>
        </p:nvSpPr>
        <p:spPr>
          <a:xfrm>
            <a:off x="1417320" y="44439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Visibility timeout ≥ 6× Lambda; redelivery = all duplicates</a:t>
            </a:r>
            <a:endParaRPr lang="en-US" sz="1300" dirty="0"/>
          </a:p>
        </p:txBody>
      </p:sp>
      <p:sp>
        <p:nvSpPr>
          <p:cNvPr id="17" name="badge-266"/>
          <p:cNvSpPr/>
          <p:nvPr/>
        </p:nvSpPr>
        <p:spPr>
          <a:xfrm>
            <a:off x="868680" y="50017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badge-text-267"/>
          <p:cNvSpPr txBox="1"/>
          <p:nvPr/>
        </p:nvSpPr>
        <p:spPr>
          <a:xfrm>
            <a:off x="868680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-268"/>
          <p:cNvSpPr txBox="1"/>
          <p:nvPr/>
        </p:nvSpPr>
        <p:spPr>
          <a:xfrm>
            <a:off x="1417320" y="4983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Escalate</a:t>
            </a:r>
            <a:endParaRPr lang="en-US" sz="1500" dirty="0"/>
          </a:p>
        </p:txBody>
      </p:sp>
      <p:sp>
        <p:nvSpPr>
          <p:cNvPr id="20" name="text-269"/>
          <p:cNvSpPr txBox="1"/>
          <p:nvPr/>
        </p:nvSpPr>
        <p:spPr>
          <a:xfrm>
            <a:off x="1417320" y="53126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3 receives → DLQ → page; raise limits or route to Fargate, redrive</a:t>
            </a:r>
            <a:endParaRPr lang="en-US" sz="1300" dirty="0"/>
          </a:p>
        </p:txBody>
      </p:sp>
      <p:sp>
        <p:nvSpPr>
          <p:cNvPr id="21" name="card-270"/>
          <p:cNvSpPr/>
          <p:nvPr/>
        </p:nvSpPr>
        <p:spPr>
          <a:xfrm>
            <a:off x="6858000" y="1371600"/>
            <a:ext cx="4754880" cy="4572000"/>
          </a:xfrm>
          <a:prstGeom prst="roundRect">
            <a:avLst>
              <a:gd name="adj" fmla="val 1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text-271"/>
          <p:cNvSpPr txBox="1"/>
          <p:nvPr/>
        </p:nvSpPr>
        <p:spPr>
          <a:xfrm>
            <a:off x="7178040" y="15544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Rejected: S3 + Iceberg + Athena</a:t>
            </a:r>
            <a:endParaRPr lang="en-US" sz="1700" dirty="0"/>
          </a:p>
        </p:txBody>
      </p:sp>
      <p:sp>
        <p:nvSpPr>
          <p:cNvPr id="23" name="text-272"/>
          <p:cNvSpPr txBox="1"/>
          <p:nvPr/>
        </p:nvSpPr>
        <p:spPr>
          <a:xfrm>
            <a:off x="7178040" y="233172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96 small commits/day → compaction and snapshot expiry to run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Correction storms → MERGE conflicts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Athena latency eats most of the 10 s budget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“Highest revision wins, atomically per file” is one Postgres txn</a:t>
            </a:r>
            <a:endParaRPr lang="en-US" sz="1500" dirty="0"/>
          </a:p>
        </p:txBody>
      </p:sp>
      <p:sp>
        <p:nvSpPr>
          <p:cNvPr id="24" name="text-273"/>
          <p:cNvSpPr txBox="1"/>
          <p:nvPr/>
        </p:nvSpPr>
        <p:spPr>
          <a:xfrm>
            <a:off x="7178040" y="4846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Revisit at </a:t>
            </a:r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multi-TB history, heavy cross-hub analytics, or as-of queries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Known limits, and the next hour</a:t>
            </a:r>
            <a:endParaRPr lang="en-US" sz="3400" dirty="0"/>
          </a:p>
        </p:txBody>
      </p:sp>
      <p:sp>
        <p:nvSpPr>
          <p:cNvPr id="3" name="text-274"/>
          <p:cNvSpPr txBox="1"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Known limitations</a:t>
            </a:r>
            <a:endParaRPr lang="en-US" sz="1900" dirty="0"/>
          </a:p>
        </p:txBody>
      </p:sp>
      <p:sp>
        <p:nvSpPr>
          <p:cNvPr id="4" name="text-275"/>
          <p:cNvSpPr txBox="1"/>
          <p:nvPr/>
        </p:nvSpPr>
        <p:spPr>
          <a:xfrm>
            <a:off x="548640" y="187452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latest_price is a view; a maintained table at scale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as-of query yet (history makes it possible)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Single writer only; no concurrency control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lateness metric locally; first failing check only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Exports overwrite in place (no temp + rename)</a:t>
            </a:r>
            <a:endParaRPr lang="en-US" sz="1500" dirty="0"/>
          </a:p>
        </p:txBody>
      </p:sp>
      <p:sp>
        <p:nvSpPr>
          <p:cNvPr id="5" name="card-276"/>
          <p:cNvSpPr/>
          <p:nvPr/>
        </p:nvSpPr>
        <p:spPr>
          <a:xfrm>
            <a:off x="621792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277"/>
          <p:cNvSpPr txBox="1"/>
          <p:nvPr/>
        </p:nvSpPr>
        <p:spPr>
          <a:xfrm>
            <a:off x="6537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If I had another hour</a:t>
            </a:r>
            <a:endParaRPr lang="en-US" sz="1900" dirty="0"/>
          </a:p>
        </p:txBody>
      </p:sp>
      <p:sp>
        <p:nvSpPr>
          <p:cNvPr id="7" name="badge-278"/>
          <p:cNvSpPr/>
          <p:nvPr/>
        </p:nvSpPr>
        <p:spPr>
          <a:xfrm>
            <a:off x="6537960" y="21214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badge-text-279"/>
          <p:cNvSpPr txBox="1"/>
          <p:nvPr/>
        </p:nvSpPr>
        <p:spPr>
          <a:xfrm>
            <a:off x="653796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-280"/>
          <p:cNvSpPr txBox="1"/>
          <p:nvPr/>
        </p:nvSpPr>
        <p:spPr>
          <a:xfrm>
            <a:off x="7086600" y="2103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--fail-on-incomplete</a:t>
            </a:r>
            <a:endParaRPr lang="en-US" sz="1500" dirty="0"/>
          </a:p>
        </p:txBody>
      </p:sp>
      <p:sp>
        <p:nvSpPr>
          <p:cNvPr id="10" name="text-281"/>
          <p:cNvSpPr txBox="1"/>
          <p:nvPr/>
        </p:nvSpPr>
        <p:spPr>
          <a:xfrm>
            <a:off x="7086600" y="24505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Alert on gaps without calling it a crash</a:t>
            </a:r>
            <a:endParaRPr lang="en-US" sz="1400" dirty="0"/>
          </a:p>
        </p:txBody>
      </p:sp>
      <p:sp>
        <p:nvSpPr>
          <p:cNvPr id="11" name="badge-282"/>
          <p:cNvSpPr/>
          <p:nvPr/>
        </p:nvSpPr>
        <p:spPr>
          <a:xfrm>
            <a:off x="6537960" y="30358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-text-283"/>
          <p:cNvSpPr txBox="1"/>
          <p:nvPr/>
        </p:nvSpPr>
        <p:spPr>
          <a:xfrm>
            <a:off x="6537960" y="3035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-284"/>
          <p:cNvSpPr txBox="1"/>
          <p:nvPr/>
        </p:nvSpPr>
        <p:spPr>
          <a:xfrm>
            <a:off x="7086600" y="30175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explain hub hour</a:t>
            </a:r>
            <a:endParaRPr lang="en-US" sz="1500" dirty="0"/>
          </a:p>
        </p:txBody>
      </p:sp>
      <p:sp>
        <p:nvSpPr>
          <p:cNvPr id="14" name="text-285"/>
          <p:cNvSpPr txBox="1"/>
          <p:nvPr/>
        </p:nvSpPr>
        <p:spPr>
          <a:xfrm>
            <a:off x="7086600" y="33649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Every revision and rejected row behind one number</a:t>
            </a:r>
            <a:endParaRPr lang="en-US" sz="1400" dirty="0"/>
          </a:p>
        </p:txBody>
      </p:sp>
      <p:sp>
        <p:nvSpPr>
          <p:cNvPr id="15" name="badge-286"/>
          <p:cNvSpPr/>
          <p:nvPr/>
        </p:nvSpPr>
        <p:spPr>
          <a:xfrm>
            <a:off x="6537960" y="39502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-text-287"/>
          <p:cNvSpPr txBox="1"/>
          <p:nvPr/>
        </p:nvSpPr>
        <p:spPr>
          <a:xfrm>
            <a:off x="65379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-288"/>
          <p:cNvSpPr txBox="1"/>
          <p:nvPr/>
        </p:nvSpPr>
        <p:spPr>
          <a:xfrm>
            <a:off x="7086600" y="39319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Lateness metric</a:t>
            </a:r>
            <a:endParaRPr lang="en-US" sz="1500" dirty="0"/>
          </a:p>
        </p:txBody>
      </p:sp>
      <p:sp>
        <p:nvSpPr>
          <p:cNvPr id="18" name="text-289"/>
          <p:cNvSpPr txBox="1"/>
          <p:nvPr/>
        </p:nvSpPr>
        <p:spPr>
          <a:xfrm>
            <a:off x="7086600" y="42793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delivered_at − interval_end per interval</a:t>
            </a:r>
            <a:endParaRPr lang="en-US" sz="1400" dirty="0"/>
          </a:p>
        </p:txBody>
      </p:sp>
      <p:sp>
        <p:nvSpPr>
          <p:cNvPr id="19" name="badge-290"/>
          <p:cNvSpPr/>
          <p:nvPr/>
        </p:nvSpPr>
        <p:spPr>
          <a:xfrm>
            <a:off x="6537960" y="4864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badge-text-291"/>
          <p:cNvSpPr txBox="1"/>
          <p:nvPr/>
        </p:nvSpPr>
        <p:spPr>
          <a:xfrm>
            <a:off x="653796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-292"/>
          <p:cNvSpPr txBox="1"/>
          <p:nvPr/>
        </p:nvSpPr>
        <p:spPr>
          <a:xfrm>
            <a:off x="7086600" y="48463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Shuffle test</a:t>
            </a:r>
            <a:endParaRPr lang="en-US" sz="1500" dirty="0"/>
          </a:p>
        </p:txBody>
      </p:sp>
      <p:sp>
        <p:nvSpPr>
          <p:cNvPr id="22" name="text-293"/>
          <p:cNvSpPr txBox="1"/>
          <p:nvPr/>
        </p:nvSpPr>
        <p:spPr>
          <a:xfrm>
            <a:off x="7086600" y="519379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Row order within a file must not change results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Trust comes from the model, not the dashboard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History + revision rule + explicit gaps  ·  Same design, sized up on AWS</a:t>
            </a:r>
            <a:endParaRPr lang="en-US" sz="2000" dirty="0"/>
          </a:p>
        </p:txBody>
      </p:sp>
      <p:sp>
        <p:nvSpPr>
          <p:cNvPr id="4" name="text-294"/>
          <p:cNvSpPr txBox="1"/>
          <p:nvPr/>
        </p:nvSpPr>
        <p:spPr>
          <a:xfrm>
            <a:off x="731520" y="5120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Built in ~2 hours with Claude Code; independently reviewed with Codex. Verified by reading every module, running 17 tests, diffing the replay, and checking every public example by hand.</a:t>
            </a:r>
            <a:endParaRPr lang="en-US" sz="1400" dirty="0"/>
          </a:p>
        </p:txBody>
      </p:sp>
      <p:sp>
        <p:nvSpPr>
          <p:cNvPr id="5" name="badge-295"/>
          <p:cNvSpPr/>
          <p:nvPr/>
        </p:nvSpPr>
        <p:spPr>
          <a:xfrm>
            <a:off x="731520" y="1097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-text-296"/>
          <p:cNvSpPr txBox="1"/>
          <p:nvPr/>
        </p:nvSpPr>
        <p:spPr>
          <a:xfrm>
            <a:off x="73152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et Pulse">
  <a:themeElements>
    <a:clrScheme name="Market Pulse">
      <a:dk1>
        <a:srgbClr val="1C2230"/>
      </a:dk1>
      <a:lt1>
        <a:srgbClr val="FFFFFF"/>
      </a:lt1>
      <a:dk2>
        <a:srgbClr val="14213D"/>
      </a:dk2>
      <a:lt2>
        <a:srgbClr val="EEF1F6"/>
      </a:lt2>
      <a:accent1>
        <a:srgbClr val="F2A900"/>
      </a:accent1>
      <a:accent2>
        <a:srgbClr val="2E86AB"/>
      </a:accent2>
      <a:accent3>
        <a:srgbClr val="C8553D"/>
      </a:accent3>
      <a:accent4>
        <a:srgbClr val="3B9C5A"/>
      </a:accent4>
      <a:accent5>
        <a:srgbClr val="6B7A90"/>
      </a:accent5>
      <a:accent6>
        <a:srgbClr val="8E6CB8"/>
      </a:accent6>
      <a:hlink>
        <a:srgbClr val="2E86AB"/>
      </a:hlink>
      <a:folHlink>
        <a:srgbClr val="6B7A90"/>
      </a:folHlink>
    </a:clrScheme>
    <a:fontScheme name="Market Pul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Pulse: solution walkthrough</dc:title>
  <dc:subject>PptxGenJS Presentation</dc:subject>
  <dc:creator>Maxwell Li</dc:creator>
  <cp:lastModifiedBy>Maxwell Li</cp:lastModifiedBy>
  <cp:revision>1</cp:revision>
  <dcterms:created xsi:type="dcterms:W3CDTF">2026-10-13T22:04:46Z</dcterms:created>
  <dcterms:modified xsi:type="dcterms:W3CDTF">2026-10-13T22:04:46Z</dcterms:modified>
</cp:coreProperties>
</file>